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40080"/>
            <a:ext cx="1559705" cy="109728"/>
          </a:xfrm>
          <a:prstGeom prst="rect">
            <a:avLst/>
          </a:prstGeom>
          <a:solidFill>
            <a:srgbClr val="8C152D"/>
          </a:solidFill>
          <a:ln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27217" y="640080"/>
            <a:ext cx="1559705" cy="109728"/>
          </a:xfrm>
          <a:prstGeom prst="rect">
            <a:avLst/>
          </a:prstGeom>
          <a:solidFill>
            <a:srgbClr val="CC4070"/>
          </a:solidFill>
          <a:ln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68634" y="640080"/>
            <a:ext cx="1559705" cy="109728"/>
          </a:xfrm>
          <a:prstGeom prst="rect">
            <a:avLst/>
          </a:prstGeom>
          <a:solidFill>
            <a:srgbClr val="764397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10051" y="640080"/>
            <a:ext cx="1559705" cy="109728"/>
          </a:xfrm>
          <a:prstGeom prst="rect">
            <a:avLst/>
          </a:prstGeom>
          <a:solidFill>
            <a:srgbClr val="315BA0"/>
          </a:solidFill>
          <a:ln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1468" y="640080"/>
            <a:ext cx="1559705" cy="109728"/>
          </a:xfrm>
          <a:prstGeom prst="rect">
            <a:avLst/>
          </a:prstGeom>
          <a:solidFill>
            <a:srgbClr val="007EA7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392885" y="640080"/>
            <a:ext cx="1559705" cy="109728"/>
          </a:xfrm>
          <a:prstGeom prst="rect">
            <a:avLst/>
          </a:prstGeom>
          <a:solidFill>
            <a:srgbClr val="008460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34302" y="640080"/>
            <a:ext cx="1559705" cy="109728"/>
          </a:xfrm>
          <a:prstGeom prst="rect">
            <a:avLst/>
          </a:prstGeom>
          <a:solidFill>
            <a:srgbClr val="E58400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051560"/>
            <a:ext cx="5760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8C152D"/>
                </a:solidFill>
                <a:latin typeface="Aptos"/>
              </a:rPr>
              <a:t>WOBBLE</a:t>
            </a:r>
          </a:p>
          <a:p>
            <a:pPr algn="l"/>
            <a:r>
              <a:rPr sz="4200" b="1">
                <a:solidFill>
                  <a:srgbClr val="8C152D"/>
                </a:solidFill>
                <a:latin typeface="Aptos"/>
              </a:rPr>
              <a:t>MECHANISMS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6583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7EA7"/>
                </a:solidFill>
                <a:latin typeface="Aptos"/>
              </a:rPr>
              <a:t>A mechatronic egg that turns imbalance into choreography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6583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E6770"/>
                </a:solidFill>
                <a:latin typeface="Aptos"/>
              </a:rPr>
              <a:t>ESP32  ·  BNO055  ·  TMC2209  ·  stepper actuation  ·  laptop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417320"/>
            <a:ext cx="2468880" cy="256032"/>
          </a:xfrm>
          <a:prstGeom prst="roundRect">
            <a:avLst/>
          </a:prstGeom>
          <a:solidFill>
            <a:srgbClr val="8C152D"/>
          </a:solidFill>
          <a:ln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23960" y="1856232"/>
            <a:ext cx="2468880" cy="256032"/>
          </a:xfrm>
          <a:prstGeom prst="roundRect">
            <a:avLst/>
          </a:prstGeom>
          <a:solidFill>
            <a:srgbClr val="CC4070"/>
          </a:solidFill>
          <a:ln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43800" y="2295144"/>
            <a:ext cx="2468880" cy="256032"/>
          </a:xfrm>
          <a:prstGeom prst="roundRect">
            <a:avLst/>
          </a:prstGeom>
          <a:solidFill>
            <a:srgbClr val="764397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823960" y="2734056"/>
            <a:ext cx="2468880" cy="256032"/>
          </a:xfrm>
          <a:prstGeom prst="roundRect">
            <a:avLst/>
          </a:prstGeom>
          <a:solidFill>
            <a:srgbClr val="315BA0"/>
          </a:solidFill>
          <a:ln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43800" y="3172968"/>
            <a:ext cx="2468880" cy="256032"/>
          </a:xfrm>
          <a:prstGeom prst="roundRect">
            <a:avLst/>
          </a:prstGeom>
          <a:solidFill>
            <a:srgbClr val="007EA7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823960" y="3611880"/>
            <a:ext cx="2468880" cy="256032"/>
          </a:xfrm>
          <a:prstGeom prst="roundRect">
            <a:avLst/>
          </a:prstGeom>
          <a:solidFill>
            <a:srgbClr val="008460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43800" y="4050791"/>
            <a:ext cx="2468880" cy="256032"/>
          </a:xfrm>
          <a:prstGeom prst="roundRect">
            <a:avLst/>
          </a:prstGeom>
          <a:solidFill>
            <a:srgbClr val="E58400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074920"/>
            <a:ext cx="6583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0252C"/>
                </a:solidFill>
                <a:latin typeface="Aptos"/>
              </a:rPr>
              <a:t>A technical prototype for sensing, self-righting motion,</a:t>
            </a:r>
          </a:p>
          <a:p>
            <a:pPr algn="l"/>
            <a:r>
              <a:rPr sz="1800" b="0">
                <a:solidFill>
                  <a:srgbClr val="20252C"/>
                </a:solidFill>
                <a:latin typeface="Aptos"/>
              </a:rPr>
              <a:t>and delayed response between two expressive objects.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6770"/>
                </a:solidFill>
                <a:latin typeface="Aptos"/>
              </a:rPr>
              <a:t>WOBBLE MECHANISMS  /  FINAL PRESENTATION SOURCE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C152D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37744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0252C"/>
                </a:solidFill>
                <a:latin typeface="Aptos"/>
              </a:rPr>
              <a:t>How to read this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5895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770"/>
                </a:solidFill>
                <a:latin typeface="Aptos"/>
              </a:rPr>
              <a:t>Five chapters: from desire to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6770"/>
                </a:solidFill>
                <a:latin typeface="Aptos"/>
              </a:rPr>
              <a:t>WOBBLE MECHANISMS  /  TECHNICAL 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41732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152D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139903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0252C"/>
                </a:solidFill>
                <a:latin typeface="Aptos"/>
              </a:rPr>
              <a:t>ART MOTIVATIONS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399032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770"/>
                </a:solidFill>
                <a:latin typeface="Aptos"/>
              </a:rPr>
              <a:t>Why an egg should feel alive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0" y="1463040"/>
            <a:ext cx="457200" cy="146304"/>
          </a:xfrm>
          <a:prstGeom prst="roundRect">
            <a:avLst/>
          </a:prstGeom>
          <a:solidFill>
            <a:srgbClr val="8C152D"/>
          </a:solidFill>
          <a:ln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24028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15BA0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22199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0252C"/>
                </a:solidFill>
                <a:latin typeface="Aptos"/>
              </a:rPr>
              <a:t>TECHNICAL VISION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221992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770"/>
                </a:solidFill>
                <a:latin typeface="Aptos"/>
              </a:rPr>
              <a:t>What must be sensed, modeled, and controlled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0" y="2286000"/>
            <a:ext cx="457200" cy="146304"/>
          </a:xfrm>
          <a:prstGeom prst="roundRect">
            <a:avLst/>
          </a:prstGeom>
          <a:solidFill>
            <a:srgbClr val="315BA0"/>
          </a:solidFill>
          <a:ln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06324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460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04495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0252C"/>
                </a:solidFill>
                <a:latin typeface="Aptos"/>
              </a:rPr>
              <a:t>REALIZATION + 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044952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770"/>
                </a:solidFill>
                <a:latin typeface="Aptos"/>
              </a:rPr>
              <a:t>Firmware, dashboard, hardware, and measured behavior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15600" y="3108960"/>
            <a:ext cx="457200" cy="146304"/>
          </a:xfrm>
          <a:prstGeom prst="roundRect">
            <a:avLst/>
          </a:prstGeom>
          <a:solidFill>
            <a:srgbClr val="008460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88620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58400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86791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0252C"/>
                </a:solidFill>
                <a:latin typeface="Aptos"/>
              </a:rPr>
              <a:t>FUTURE DIRECTIONS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867912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770"/>
                </a:solidFill>
                <a:latin typeface="Aptos"/>
              </a:rPr>
              <a:t>What must be instrumented next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15600" y="3931920"/>
            <a:ext cx="457200" cy="146304"/>
          </a:xfrm>
          <a:prstGeom prst="roundRect">
            <a:avLst/>
          </a:prstGeom>
          <a:solidFill>
            <a:srgbClr val="E58400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70916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64397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69087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0252C"/>
                </a:solidFill>
                <a:latin typeface="Aptos"/>
              </a:rPr>
              <a:t>LEARNING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690872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770"/>
                </a:solidFill>
                <a:latin typeface="Aptos"/>
              </a:rPr>
              <a:t>The assumptions that changed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15600" y="4754880"/>
            <a:ext cx="457200" cy="146304"/>
          </a:xfrm>
          <a:prstGeom prst="roundRect">
            <a:avLst/>
          </a:prstGeom>
          <a:solidFill>
            <a:srgbClr val="764397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611956" cy="82296"/>
          </a:xfrm>
          <a:prstGeom prst="rect">
            <a:avLst/>
          </a:prstGeom>
          <a:solidFill>
            <a:srgbClr val="8C152D"/>
          </a:solidFill>
          <a:ln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96588" y="502920"/>
            <a:ext cx="1611956" cy="82296"/>
          </a:xfrm>
          <a:prstGeom prst="rect">
            <a:avLst/>
          </a:prstGeom>
          <a:solidFill>
            <a:srgbClr val="CC4070"/>
          </a:solidFill>
          <a:ln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90257" y="502920"/>
            <a:ext cx="1611956" cy="82296"/>
          </a:xfrm>
          <a:prstGeom prst="rect">
            <a:avLst/>
          </a:prstGeom>
          <a:solidFill>
            <a:srgbClr val="764397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83925" y="502920"/>
            <a:ext cx="1611956" cy="82296"/>
          </a:xfrm>
          <a:prstGeom prst="rect">
            <a:avLst/>
          </a:prstGeom>
          <a:solidFill>
            <a:srgbClr val="315BA0"/>
          </a:solidFill>
          <a:ln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77594" y="502920"/>
            <a:ext cx="1611956" cy="82296"/>
          </a:xfrm>
          <a:prstGeom prst="rect">
            <a:avLst/>
          </a:prstGeom>
          <a:solidFill>
            <a:srgbClr val="007EA7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71262" y="502920"/>
            <a:ext cx="1611956" cy="82296"/>
          </a:xfrm>
          <a:prstGeom prst="rect">
            <a:avLst/>
          </a:prstGeom>
          <a:solidFill>
            <a:srgbClr val="008460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64931" y="502920"/>
            <a:ext cx="1611956" cy="82296"/>
          </a:xfrm>
          <a:prstGeom prst="rect">
            <a:avLst/>
          </a:prstGeom>
          <a:solidFill>
            <a:srgbClr val="E58400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143000"/>
            <a:ext cx="1097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8C152D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20252C"/>
                </a:solidFill>
                <a:latin typeface="Aptos"/>
              </a:rPr>
              <a:t>ART MOTIVATIONS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5E6770"/>
                </a:solidFill>
                <a:latin typeface="Aptos"/>
              </a:rPr>
              <a:t>A small body becomes expressive when its constraints become gestures.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983480"/>
            <a:ext cx="2743200" cy="146304"/>
          </a:xfrm>
          <a:prstGeom prst="roundRect">
            <a:avLst/>
          </a:prstGeom>
          <a:solidFill>
            <a:srgbClr val="8C152D"/>
          </a:solidFill>
          <a:ln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6770"/>
                </a:solidFill>
                <a:latin typeface="Aptos"/>
              </a:rPr>
              <a:t>WOBBLE MECHANISMS  /  CHAPTER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C152D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37744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0252C"/>
                </a:solidFill>
                <a:latin typeface="Aptos"/>
              </a:rPr>
              <a:t>Product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5895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770"/>
                </a:solidFill>
                <a:latin typeface="Aptos"/>
              </a:rPr>
              <a:t>A self-righting object with a visible inner life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6770"/>
                </a:solidFill>
                <a:latin typeface="Aptos"/>
              </a:rPr>
              <a:t>WOBBLE MECHANISMS  /  TECHNICAL PROTOTYPE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554480"/>
            <a:ext cx="2011680" cy="914400"/>
          </a:xfrm>
          <a:prstGeom prst="roundRect">
            <a:avLst/>
          </a:prstGeom>
          <a:solidFill>
            <a:srgbClr val="F2F4F1"/>
          </a:solidFill>
          <a:ln>
            <a:solidFill>
              <a:srgbClr val="5E6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7830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5E6770"/>
                </a:solidFill>
                <a:latin typeface="Aptos"/>
              </a:rPr>
              <a:t>IDLE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181051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E6770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1554480"/>
            <a:ext cx="2011680" cy="914400"/>
          </a:xfrm>
          <a:prstGeom prst="roundRect">
            <a:avLst/>
          </a:prstGeom>
          <a:solidFill>
            <a:srgbClr val="F2F4F1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17830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07EA7"/>
                </a:solidFill>
                <a:latin typeface="Aptos"/>
              </a:rPr>
              <a:t>INITIATE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7" y="181051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E6770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554480"/>
            <a:ext cx="2011680" cy="914400"/>
          </a:xfrm>
          <a:prstGeom prst="roundRect">
            <a:avLst/>
          </a:prstGeom>
          <a:solidFill>
            <a:srgbClr val="F2F4F1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7830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58400"/>
                </a:solidFill>
                <a:latin typeface="Aptos"/>
              </a:rPr>
              <a:t>WOBBLE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181051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E6770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1554480"/>
            <a:ext cx="2011680" cy="914400"/>
          </a:xfrm>
          <a:prstGeom prst="roundRect">
            <a:avLst/>
          </a:prstGeom>
          <a:solidFill>
            <a:srgbClr val="F2F4F1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17830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08460"/>
                </a:solidFill>
                <a:latin typeface="Aptos"/>
              </a:rPr>
              <a:t>SETTLE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297180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Independent distance, smooth-distance, and rocking modes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IMU tare, stop, immediate stop, and clockwise origin return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Second egg can answer with a delayed, lower-intensity motion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Implemented behavior is verified; final product experience remains a design direction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2834640"/>
            <a:ext cx="3931920" cy="1920240"/>
          </a:xfrm>
          <a:prstGeom prst="roundRect">
            <a:avLst/>
          </a:prstGeom>
          <a:solidFill>
            <a:srgbClr val="F2F4F1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3127248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7EA7"/>
                </a:solidFill>
                <a:latin typeface="Aptos"/>
              </a:rPr>
              <a:t>TWO EGGS = A CONVERSATION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361188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0252C"/>
                </a:solidFill>
                <a:latin typeface="Aptos"/>
              </a:rPr>
              <a:t>one initiates</a:t>
            </a:r>
          </a:p>
          <a:p>
            <a:pPr algn="l"/>
            <a:r>
              <a:rPr sz="2200" b="1">
                <a:solidFill>
                  <a:srgbClr val="20252C"/>
                </a:solidFill>
                <a:latin typeface="Aptos"/>
              </a:rPr>
              <a:t>one listens</a:t>
            </a:r>
          </a:p>
          <a:p>
            <a:pPr algn="l"/>
            <a:r>
              <a:rPr sz="2200" b="1">
                <a:solidFill>
                  <a:srgbClr val="20252C"/>
                </a:solidFill>
                <a:latin typeface="Aptos"/>
              </a:rPr>
              <a:t>one answers</a:t>
            </a:r>
          </a:p>
          <a:p>
            <a:pPr algn="l"/>
            <a:r>
              <a:rPr sz="2200" b="1">
                <a:solidFill>
                  <a:srgbClr val="20252C"/>
                </a:solidFill>
                <a:latin typeface="Aptos"/>
              </a:rPr>
              <a:t>both settle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C152D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37744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0252C"/>
                </a:solidFill>
                <a:latin typeface="Aptos"/>
              </a:rPr>
              <a:t>Why an egg?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5895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770"/>
                </a:solidFill>
                <a:latin typeface="Aptos"/>
              </a:rPr>
              <a:t>Passive self-righting becomes an active control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6770"/>
                </a:solidFill>
                <a:latin typeface="Aptos"/>
              </a:rPr>
              <a:t>WOBBLE MECHANISMS  /  TECHNICAL 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50876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58400"/>
                </a:solidFill>
                <a:latin typeface="Aptos"/>
              </a:rPr>
              <a:t>τgravity = m g dCoM sin(θ)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37744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Bottom-heavy geometry creates a restoring torque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The motor injects motion around the stable equilibrium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Tilt angle depends on mass distribution, contact, friction, and excitation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A static lean is not the same as a dynamic wobble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417320"/>
            <a:ext cx="4389120" cy="3977639"/>
          </a:xfrm>
          <a:prstGeom prst="roundRect">
            <a:avLst/>
          </a:prstGeom>
          <a:solidFill>
            <a:srgbClr val="F2F4F1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6916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07EA7"/>
                </a:solidFill>
                <a:latin typeface="Aptos"/>
              </a:rPr>
              <a:t>gravity 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2057400"/>
            <a:ext cx="1463040" cy="2286000"/>
          </a:xfrm>
          <a:prstGeom prst="roundRect">
            <a:avLst/>
          </a:prstGeom>
          <a:solidFill>
            <a:srgbClr val="EEE2BE"/>
          </a:solidFill>
          <a:ln>
            <a:solidFill>
              <a:srgbClr val="EEE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3657600"/>
            <a:ext cx="731520" cy="685800"/>
          </a:xfrm>
          <a:prstGeom prst="roundRect">
            <a:avLst/>
          </a:prstGeom>
          <a:solidFill>
            <a:srgbClr val="E58400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3840480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C"/>
                </a:solidFill>
                <a:latin typeface="Aptos"/>
              </a:rPr>
              <a:t>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470916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E6770"/>
                </a:solidFill>
                <a:latin typeface="Aptos"/>
              </a:rPr>
              <a:t>contact point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27432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7EA7"/>
                </a:solidFill>
                <a:latin typeface="Aptos"/>
              </a:rPr>
              <a:t>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611956" cy="82296"/>
          </a:xfrm>
          <a:prstGeom prst="rect">
            <a:avLst/>
          </a:prstGeom>
          <a:solidFill>
            <a:srgbClr val="8C152D"/>
          </a:solidFill>
          <a:ln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96588" y="502920"/>
            <a:ext cx="1611956" cy="82296"/>
          </a:xfrm>
          <a:prstGeom prst="rect">
            <a:avLst/>
          </a:prstGeom>
          <a:solidFill>
            <a:srgbClr val="CC4070"/>
          </a:solidFill>
          <a:ln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90257" y="502920"/>
            <a:ext cx="1611956" cy="82296"/>
          </a:xfrm>
          <a:prstGeom prst="rect">
            <a:avLst/>
          </a:prstGeom>
          <a:solidFill>
            <a:srgbClr val="764397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83925" y="502920"/>
            <a:ext cx="1611956" cy="82296"/>
          </a:xfrm>
          <a:prstGeom prst="rect">
            <a:avLst/>
          </a:prstGeom>
          <a:solidFill>
            <a:srgbClr val="315BA0"/>
          </a:solidFill>
          <a:ln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77594" y="502920"/>
            <a:ext cx="1611956" cy="82296"/>
          </a:xfrm>
          <a:prstGeom prst="rect">
            <a:avLst/>
          </a:prstGeom>
          <a:solidFill>
            <a:srgbClr val="007EA7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71262" y="502920"/>
            <a:ext cx="1611956" cy="82296"/>
          </a:xfrm>
          <a:prstGeom prst="rect">
            <a:avLst/>
          </a:prstGeom>
          <a:solidFill>
            <a:srgbClr val="008460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64931" y="502920"/>
            <a:ext cx="1611956" cy="82296"/>
          </a:xfrm>
          <a:prstGeom prst="rect">
            <a:avLst/>
          </a:prstGeom>
          <a:solidFill>
            <a:srgbClr val="E58400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143000"/>
            <a:ext cx="1097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315BA0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20252C"/>
                </a:solidFill>
                <a:latin typeface="Aptos"/>
              </a:rPr>
              <a:t>TECHNICAL 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5E6770"/>
                </a:solidFill>
                <a:latin typeface="Aptos"/>
              </a:rPr>
              <a:t>Make a physical intuition inspectable: geometry → sensing → control →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983480"/>
            <a:ext cx="2743200" cy="146304"/>
          </a:xfrm>
          <a:prstGeom prst="roundRect">
            <a:avLst/>
          </a:prstGeom>
          <a:solidFill>
            <a:srgbClr val="315BA0"/>
          </a:solidFill>
          <a:ln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6770"/>
                </a:solidFill>
                <a:latin typeface="Aptos"/>
              </a:rPr>
              <a:t>WOBBLE MECHANISMS  /  CHAPTER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C152D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37744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0252C"/>
                </a:solidFill>
                <a:latin typeface="Aptos"/>
              </a:rPr>
              <a:t>Iterations and design-space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5895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770"/>
                </a:solidFill>
                <a:latin typeface="Aptos"/>
              </a:rPr>
              <a:t>From mechanism research to a working two-board prototype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6770"/>
                </a:solidFill>
                <a:latin typeface="Aptos"/>
              </a:rPr>
              <a:t>WOBBLE MECHANISMS  /  TECHNICAL 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41732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0252C"/>
                </a:solidFill>
                <a:latin typeface="Aptos"/>
              </a:rPr>
              <a:t>•  Explore ten actuation architectures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0252C"/>
                </a:solidFill>
                <a:latin typeface="Aptos"/>
              </a:rPr>
              <a:t>•  Model egg dynamics and motor methods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0252C"/>
                </a:solidFill>
                <a:latin typeface="Aptos"/>
              </a:rPr>
              <a:t>•  Add ESP32 + BNO055 + TMC2209 control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0252C"/>
                </a:solidFill>
                <a:latin typeface="Aptos"/>
              </a:rPr>
              <a:t>•  Build USB dashboard and independent board routing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0252C"/>
                </a:solidFill>
                <a:latin typeface="Aptos"/>
              </a:rPr>
              <a:t>•  Add peer filtering and delayed follower behavior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0252C"/>
                </a:solidFill>
                <a:latin typeface="Aptos"/>
              </a:rPr>
              <a:t>•  Prototype Wi-Fi, then return to USB for deterministic commissioning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0252C"/>
                </a:solidFill>
                <a:latin typeface="Aptos"/>
              </a:rPr>
              <a:t>•  Add live plots, session capture, and smooth motion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60" y="1463040"/>
            <a:ext cx="4023360" cy="3840480"/>
          </a:xfrm>
          <a:prstGeom prst="roundRect">
            <a:avLst/>
          </a:prstGeom>
          <a:solidFill>
            <a:srgbClr val="F2F4F1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178308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764397"/>
                </a:solidFill>
                <a:latin typeface="Aptos"/>
              </a:rPr>
              <a:t>10 explored architectures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377440"/>
            <a:ext cx="32004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0252C"/>
                </a:solidFill>
                <a:latin typeface="Aptos"/>
              </a:rPr>
              <a:t>eccentric mass</a:t>
            </a:r>
          </a:p>
          <a:p>
            <a:pPr algn="l"/>
            <a:r>
              <a:rPr sz="1600" b="0">
                <a:solidFill>
                  <a:srgbClr val="20252C"/>
                </a:solidFill>
                <a:latin typeface="Aptos"/>
              </a:rPr>
              <a:t>solenoid slider</a:t>
            </a:r>
          </a:p>
          <a:p>
            <a:pPr algn="l"/>
            <a:r>
              <a:rPr sz="1600" b="0">
                <a:solidFill>
                  <a:srgbClr val="20252C"/>
                </a:solidFill>
                <a:latin typeface="Aptos"/>
              </a:rPr>
              <a:t>EAP / hydraulic piston</a:t>
            </a:r>
          </a:p>
          <a:p>
            <a:pPr algn="l"/>
            <a:r>
              <a:rPr sz="1600" b="0">
                <a:solidFill>
                  <a:srgbClr val="20252C"/>
                </a:solidFill>
                <a:latin typeface="Aptos"/>
              </a:rPr>
              <a:t>voice coil / reactive pendulum</a:t>
            </a:r>
          </a:p>
          <a:p>
            <a:pPr algn="l"/>
            <a:r>
              <a:rPr sz="1600" b="0">
                <a:solidFill>
                  <a:srgbClr val="20252C"/>
                </a:solidFill>
                <a:latin typeface="Aptos"/>
              </a:rPr>
              <a:t>piezo / SMA</a:t>
            </a:r>
          </a:p>
          <a:p>
            <a:pPr algn="l"/>
            <a:r>
              <a:rPr sz="1600" b="0">
                <a:solidFill>
                  <a:srgbClr val="20252C"/>
                </a:solidFill>
                <a:latin typeface="Aptos"/>
              </a:rPr>
              <a:t>BLDC cam</a:t>
            </a:r>
          </a:p>
          <a:p>
            <a:pPr algn="l"/>
            <a:r>
              <a:rPr sz="1600" b="0">
                <a:solidFill>
                  <a:srgbClr val="20252C"/>
                </a:solidFill>
                <a:latin typeface="Aptos"/>
              </a:rPr>
              <a:t>adaptive resonance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C152D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37744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0252C"/>
                </a:solidFill>
                <a:latin typeface="Aptos"/>
              </a:rPr>
              <a:t>Current prototype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5895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770"/>
                </a:solidFill>
                <a:latin typeface="Aptos"/>
              </a:rPr>
              <a:t>Sensing, actuation, and laptop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6770"/>
                </a:solidFill>
                <a:latin typeface="Aptos"/>
              </a:rPr>
              <a:t>WOBBLE MECHANISMS  /  TECHNICAL PROTOTYPE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325880"/>
            <a:ext cx="6766560" cy="3291840"/>
          </a:xfrm>
          <a:prstGeom prst="roundRect">
            <a:avLst/>
          </a:prstGeom>
          <a:solidFill>
            <a:srgbClr val="F2F4F1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51760"/>
            <a:ext cx="6400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7EA7"/>
                </a:solidFill>
                <a:latin typeface="Aptos"/>
              </a:rPr>
              <a:t>VISUAL ASSET</a:t>
            </a:r>
          </a:p>
          <a:p>
            <a:pPr algn="ctr"/>
            <a:r>
              <a:rPr sz="1600" b="1">
                <a:solidFill>
                  <a:srgbClr val="007EA7"/>
                </a:solidFill>
                <a:latin typeface="Aptos"/>
              </a:rPr>
              <a:t>system-architecture.svg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892040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7EA7"/>
                </a:solidFill>
                <a:latin typeface="Aptos"/>
              </a:rPr>
              <a:t>BNO055 → ESP32 MicroPython → TMC2209 STEP/DIR/EN → stepper → mechanism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64592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Egg A and Egg B have independent command paths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Telemetry returns IMU and motor state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Peer mode is relayed through the laptop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USB is the primary working transport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C152D"/>
                </a:solidFill>
                <a:latin typeface="Apto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37744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0252C"/>
                </a:solidFill>
                <a:latin typeface="Aptos"/>
              </a:rPr>
              <a:t>Final technical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5895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770"/>
                </a:solidFill>
                <a:latin typeface="Aptos"/>
              </a:rPr>
              <a:t>The prototype spans embedded, host, and communication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6770"/>
                </a:solidFill>
                <a:latin typeface="Aptos"/>
              </a:rPr>
              <a:t>WOBBLE MECHANISMS  /  TECHNICAL PROTOTYPE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554480"/>
            <a:ext cx="3246120" cy="3566160"/>
          </a:xfrm>
          <a:prstGeom prst="roundRect">
            <a:avLst/>
          </a:prstGeom>
          <a:solidFill>
            <a:srgbClr val="F2F4F1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1874519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7EA7"/>
                </a:solidFill>
                <a:latin typeface="Aptos"/>
              </a:rPr>
              <a:t>EMBEDDED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423160"/>
            <a:ext cx="2651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ESP32 MicroPython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BNO055-compatible IMU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TMC2209 STEP/DIR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Two-phase stepper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1554480"/>
            <a:ext cx="3246120" cy="3566160"/>
          </a:xfrm>
          <a:prstGeom prst="roundRect">
            <a:avLst/>
          </a:prstGeom>
          <a:solidFill>
            <a:srgbClr val="F2F4F1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1874519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58400"/>
                </a:solidFill>
                <a:latin typeface="Aptos"/>
              </a:rPr>
              <a:t>HOST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2423160"/>
            <a:ext cx="2651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Python + pyserial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HTML / JavaScript dashboard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NumPy / SciPy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PyBullet / Matplotlib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554480"/>
            <a:ext cx="3246120" cy="3566160"/>
          </a:xfrm>
          <a:prstGeom prst="roundRect">
            <a:avLst/>
          </a:prstGeom>
          <a:solidFill>
            <a:srgbClr val="F2F4F1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1874519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8460"/>
                </a:solidFill>
                <a:latin typeface="Aptos"/>
              </a:rPr>
              <a:t>COMMS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423160"/>
            <a:ext cx="2651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USB serial JSON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Wi-Fi HTTP experiment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ESP-NOW logic prototype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Laptop-relayed peer mode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C152D"/>
                </a:solidFill>
                <a:latin typeface="Apto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37744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0252C"/>
                </a:solidFill>
                <a:latin typeface="Aptos"/>
              </a:rPr>
              <a:t>Dashboard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5895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770"/>
                </a:solidFill>
                <a:latin typeface="Aptos"/>
              </a:rPr>
              <a:t>The UI is a measurement instrument, not just a remote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6770"/>
                </a:solidFill>
                <a:latin typeface="Aptos"/>
              </a:rPr>
              <a:t>WOBBLE MECHANISMS  /  TECHNICAL PROTOTYPE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325880"/>
            <a:ext cx="4983480" cy="960120"/>
          </a:xfrm>
          <a:prstGeom prst="roundRect">
            <a:avLst/>
          </a:prstGeom>
          <a:solidFill>
            <a:srgbClr val="F2F4F1"/>
          </a:solidFill>
          <a:ln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490472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152D"/>
                </a:solidFill>
                <a:latin typeface="Aptos"/>
              </a:rPr>
              <a:t>IMU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1490472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252C"/>
                </a:solidFill>
                <a:latin typeface="Aptos"/>
              </a:rPr>
              <a:t>Inertial Measurement Unit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828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770"/>
                </a:solidFill>
                <a:latin typeface="Aptos"/>
              </a:rPr>
              <a:t>BNO055 estimates orientation, acceleration, and angular velocity.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325880"/>
            <a:ext cx="4983480" cy="960120"/>
          </a:xfrm>
          <a:prstGeom prst="roundRect">
            <a:avLst/>
          </a:prstGeom>
          <a:solidFill>
            <a:srgbClr val="F2F4F1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490472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7EA7"/>
                </a:solidFill>
                <a:latin typeface="Aptos"/>
              </a:rPr>
              <a:t>GYRO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1490472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252C"/>
                </a:solidFill>
                <a:latin typeface="Aptos"/>
              </a:rPr>
              <a:t>Angular velocity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828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770"/>
                </a:solidFill>
                <a:latin typeface="Aptos"/>
              </a:rPr>
              <a:t>How fast the body is rotating; reported in degrees per second.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2651760"/>
            <a:ext cx="4983480" cy="960120"/>
          </a:xfrm>
          <a:prstGeom prst="roundRect">
            <a:avLst/>
          </a:prstGeom>
          <a:solidFill>
            <a:srgbClr val="F2F4F1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2816352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460"/>
                </a:solidFill>
                <a:latin typeface="Aptos"/>
              </a:rPr>
              <a:t>ACCEL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2816352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252C"/>
                </a:solidFill>
                <a:latin typeface="Aptos"/>
              </a:rPr>
              <a:t>Specific force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15468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770"/>
                </a:solidFill>
                <a:latin typeface="Aptos"/>
              </a:rPr>
              <a:t>Includes gravity; dynamic acceleration estimates motion beyond ~1 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2651760"/>
            <a:ext cx="4983480" cy="960120"/>
          </a:xfrm>
          <a:prstGeom prst="roundRect">
            <a:avLst/>
          </a:prstGeom>
          <a:solidFill>
            <a:srgbClr val="F2F4F1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2816352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58400"/>
                </a:solidFill>
                <a:latin typeface="Aptos"/>
              </a:rPr>
              <a:t>RPM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2816352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252C"/>
                </a:solidFill>
                <a:latin typeface="Aptos"/>
              </a:rPr>
              <a:t>Shaft speed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15468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770"/>
                </a:solidFill>
                <a:latin typeface="Aptos"/>
              </a:rPr>
              <a:t>Motor tempo; at 3200 steps/rev, RPM × 3200 / 60 = step rate.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3977639"/>
            <a:ext cx="4983480" cy="960120"/>
          </a:xfrm>
          <a:prstGeom prst="roundRect">
            <a:avLst/>
          </a:prstGeom>
          <a:solidFill>
            <a:srgbClr val="F2F4F1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142231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64397"/>
                </a:solidFill>
                <a:latin typeface="Aptos"/>
              </a:rPr>
              <a:t>TARE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4142231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252C"/>
                </a:solidFill>
                <a:latin typeface="Aptos"/>
              </a:rPr>
              <a:t>Reference pose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480559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770"/>
                </a:solidFill>
                <a:latin typeface="Aptos"/>
              </a:rPr>
              <a:t>Stores the current IMU reading as zero for relative orientation.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3977639"/>
            <a:ext cx="4983480" cy="960120"/>
          </a:xfrm>
          <a:prstGeom prst="roundRect">
            <a:avLst/>
          </a:prstGeom>
          <a:solidFill>
            <a:srgbClr val="F2F4F1"/>
          </a:solidFill>
          <a:ln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4142231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C4070"/>
                </a:solidFill>
                <a:latin typeface="Aptos"/>
              </a:rPr>
              <a:t>ORIGIN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4142231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252C"/>
                </a:solidFill>
                <a:latin typeface="Aptos"/>
              </a:rPr>
              <a:t>Motor pose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480559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770"/>
                </a:solidFill>
                <a:latin typeface="Aptos"/>
              </a:rPr>
              <a:t>Stores a shaft step reference; separate from IMU tare.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C152D"/>
                </a:solidFill>
                <a:latin typeface="Aptos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37744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0252C"/>
                </a:solidFill>
                <a:latin typeface="Aptos"/>
              </a:rPr>
              <a:t>Repository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5895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770"/>
                </a:solidFill>
                <a:latin typeface="Aptos"/>
              </a:rPr>
              <a:t>Where the system lives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6770"/>
                </a:solidFill>
                <a:latin typeface="Aptos"/>
              </a:rPr>
              <a:t>WOBBLE MECHANISMS  /  TECHNICAL PROTOTYPE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417320"/>
            <a:ext cx="6400800" cy="4389120"/>
          </a:xfrm>
          <a:prstGeom prst="roundRect">
            <a:avLst/>
          </a:prstGeom>
          <a:solidFill>
            <a:srgbClr val="F2F4F1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1737360"/>
            <a:ext cx="585216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0252C"/>
                </a:solidFill>
                <a:latin typeface="Menlo"/>
              </a:rPr>
              <a:t>wobble_mechanisms/</a:t>
            </a:r>
          </a:p>
          <a:p>
            <a:pPr algn="l"/>
            <a:r>
              <a:rPr sz="1600" b="0">
                <a:solidFill>
                  <a:srgbClr val="20252C"/>
                </a:solidFill>
                <a:latin typeface="Menlo"/>
              </a:rPr>
              <a:t>├── simulator/src/             physics and egg model</a:t>
            </a:r>
          </a:p>
          <a:p>
            <a:pPr algn="l"/>
            <a:r>
              <a:rPr sz="1600" b="0">
                <a:solidFill>
                  <a:srgbClr val="20252C"/>
                </a:solidFill>
                <a:latin typeface="Menlo"/>
              </a:rPr>
              <a:t>├── simulator/firmware/        ESP32 firmware + BNO055</a:t>
            </a:r>
          </a:p>
          <a:p>
            <a:pPr algn="l"/>
            <a:r>
              <a:rPr sz="1600" b="0">
                <a:solidFill>
                  <a:srgbClr val="20252C"/>
                </a:solidFill>
                <a:latin typeface="Menlo"/>
              </a:rPr>
              <a:t>├── simulator/dashboard/       USB bridge, UI, plots</a:t>
            </a:r>
          </a:p>
          <a:p>
            <a:pPr algn="l"/>
            <a:r>
              <a:rPr sz="1600" b="0">
                <a:solidFill>
                  <a:srgbClr val="20252C"/>
                </a:solidFill>
                <a:latin typeface="Menlo"/>
              </a:rPr>
              <a:t>├── simulator/wifi_dashboard/  separate HTTP experiment</a:t>
            </a:r>
          </a:p>
          <a:p>
            <a:pPr algn="l"/>
            <a:r>
              <a:rPr sz="1600" b="0">
                <a:solidFill>
                  <a:srgbClr val="20252C"/>
                </a:solidFill>
                <a:latin typeface="Menlo"/>
              </a:rPr>
              <a:t>├── simulator/dual_board/      peer / ripple logic</a:t>
            </a:r>
          </a:p>
          <a:p>
            <a:pPr algn="l"/>
            <a:r>
              <a:rPr sz="1600" b="0">
                <a:solidFill>
                  <a:srgbClr val="20252C"/>
                </a:solidFill>
                <a:latin typeface="Menlo"/>
              </a:rPr>
              <a:t>├── simulator/wired_tests/     physical logs</a:t>
            </a:r>
          </a:p>
          <a:p>
            <a:pPr algn="l"/>
            <a:r>
              <a:rPr sz="1600" b="0">
                <a:solidFill>
                  <a:srgbClr val="20252C"/>
                </a:solidFill>
                <a:latin typeface="Menlo"/>
              </a:rPr>
              <a:t>├── simulator/docs/            deck, diagrams, assets</a:t>
            </a:r>
          </a:p>
          <a:p>
            <a:pPr algn="l"/>
            <a:r>
              <a:rPr sz="1600" b="0">
                <a:solidFill>
                  <a:srgbClr val="20252C"/>
                </a:solidFill>
                <a:latin typeface="Menlo"/>
              </a:rPr>
              <a:t>└── simulator/datasheet/       motor references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16459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0252C"/>
                </a:solidFill>
                <a:latin typeface="Aptos"/>
              </a:rPr>
              <a:t>Color key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2148840"/>
            <a:ext cx="228600" cy="228600"/>
          </a:xfrm>
          <a:prstGeom prst="roundRect">
            <a:avLst/>
          </a:prstGeom>
          <a:solidFill>
            <a:srgbClr val="007EA7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10312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0252C"/>
                </a:solidFill>
                <a:latin typeface="Aptos"/>
              </a:rPr>
              <a:t>model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2788920"/>
            <a:ext cx="228600" cy="228600"/>
          </a:xfrm>
          <a:prstGeom prst="roundRect">
            <a:avLst/>
          </a:prstGeom>
          <a:solidFill>
            <a:srgbClr val="008460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7432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0252C"/>
                </a:solidFill>
                <a:latin typeface="Aptos"/>
              </a:rPr>
              <a:t>firmware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3429000"/>
            <a:ext cx="228600" cy="228600"/>
          </a:xfrm>
          <a:prstGeom prst="roundRect">
            <a:avLst/>
          </a:prstGeom>
          <a:solidFill>
            <a:srgbClr val="E58400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3383279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0252C"/>
                </a:solidFill>
                <a:latin typeface="Aptos"/>
              </a:rPr>
              <a:t>physical tests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4069079"/>
            <a:ext cx="228600" cy="228600"/>
          </a:xfrm>
          <a:prstGeom prst="roundRect">
            <a:avLst/>
          </a:prstGeom>
          <a:solidFill>
            <a:srgbClr val="764397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4023359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0252C"/>
                </a:solidFill>
                <a:latin typeface="Aptos"/>
              </a:rPr>
              <a:t>coordination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C152D"/>
                </a:solidFill>
                <a:latin typeface="Aptos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37744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0252C"/>
                </a:solidFill>
                <a:latin typeface="Aptos"/>
              </a:rPr>
              <a:t>PCB / electronics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5895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770"/>
                </a:solidFill>
                <a:latin typeface="Aptos"/>
              </a:rPr>
              <a:t>A documented schematic, not yet a manufactured PCB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6770"/>
                </a:solidFill>
                <a:latin typeface="Aptos"/>
              </a:rPr>
              <a:t>WOBBLE MECHANISMS  /  TECHNICAL PROTOTYPE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371600"/>
            <a:ext cx="6400800" cy="3291840"/>
          </a:xfrm>
          <a:prstGeom prst="roundRect">
            <a:avLst/>
          </a:prstGeom>
          <a:solidFill>
            <a:srgbClr val="F2F4F1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697479"/>
            <a:ext cx="6035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7EA7"/>
                </a:solidFill>
                <a:latin typeface="Aptos"/>
              </a:rPr>
              <a:t>VISUAL ASSET</a:t>
            </a:r>
          </a:p>
          <a:p>
            <a:pPr algn="ctr"/>
            <a:r>
              <a:rPr sz="1600" b="1">
                <a:solidFill>
                  <a:srgbClr val="007EA7"/>
                </a:solidFill>
                <a:latin typeface="Aptos"/>
              </a:rPr>
              <a:t>egg-unit-sheet1-schematic.svg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1508760"/>
            <a:ext cx="3566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ESP32 controller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BNO055 I²C: SDA 21, SCL 22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TMC2209: STEP 25, DIR 26, ENN 27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Separate VMOT and regulated ESP32 logic supply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Common ground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4434840"/>
            <a:ext cx="3566160" cy="777240"/>
          </a:xfrm>
          <a:prstGeom prst="roundRect">
            <a:avLst/>
          </a:prstGeom>
          <a:solidFill>
            <a:srgbClr val="F2F4F1"/>
          </a:solidFill>
          <a:ln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4617720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C152D"/>
                </a:solidFill>
                <a:latin typeface="Aptos"/>
              </a:rPr>
              <a:t>STATUS: schematic / wiring asset</a:t>
            </a:r>
          </a:p>
          <a:p>
            <a:pPr algn="l"/>
            <a:r>
              <a:rPr sz="1200" b="1">
                <a:solidFill>
                  <a:srgbClr val="8C152D"/>
                </a:solidFill>
                <a:latin typeface="Aptos"/>
              </a:rPr>
              <a:t>No verified layout, Gerbers, or manufactured PCB in repo.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C152D"/>
                </a:solidFill>
                <a:latin typeface="Aptos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37744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0252C"/>
                </a:solidFill>
                <a:latin typeface="Aptos"/>
              </a:rPr>
              <a:t>Motion primitives and units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5895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770"/>
                </a:solidFill>
                <a:latin typeface="Aptos"/>
              </a:rPr>
              <a:t>The firmware controls travel and timing; the IMU observes body motion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6770"/>
                </a:solidFill>
                <a:latin typeface="Aptos"/>
              </a:rPr>
              <a:t>WOBBLE MECHANISMS  /  TECHNICAL PROTOTYPE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417320"/>
            <a:ext cx="3246120" cy="1234440"/>
          </a:xfrm>
          <a:prstGeom prst="roundRect">
            <a:avLst/>
          </a:prstGeom>
          <a:solidFill>
            <a:srgbClr val="F2F4F1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1664208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7EA7"/>
                </a:solidFill>
                <a:latin typeface="Aptos"/>
              </a:rPr>
              <a:t>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1627632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252C"/>
                </a:solidFill>
                <a:latin typeface="Aptos"/>
              </a:rPr>
              <a:t>one-way motion</a:t>
            </a:r>
          </a:p>
          <a:p>
            <a:pPr algn="l"/>
            <a:r>
              <a:rPr sz="1400" b="1">
                <a:solidFill>
                  <a:srgbClr val="20252C"/>
                </a:solidFill>
                <a:latin typeface="Aptos"/>
              </a:rPr>
              <a:t>to target distance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1417320"/>
            <a:ext cx="3246120" cy="1234440"/>
          </a:xfrm>
          <a:prstGeom prst="roundRect">
            <a:avLst/>
          </a:prstGeom>
          <a:solidFill>
            <a:srgbClr val="F2F4F1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1664208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8460"/>
                </a:solidFill>
                <a:latin typeface="Aptos"/>
              </a:rPr>
              <a:t>SMOOTH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627632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252C"/>
                </a:solidFill>
                <a:latin typeface="Aptos"/>
              </a:rPr>
              <a:t>pre-target braking</a:t>
            </a:r>
          </a:p>
          <a:p>
            <a:pPr algn="l"/>
            <a:r>
              <a:rPr sz="1400" b="1">
                <a:solidFill>
                  <a:srgbClr val="20252C"/>
                </a:solidFill>
                <a:latin typeface="Aptos"/>
              </a:rPr>
              <a:t>before endpoint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417320"/>
            <a:ext cx="3246120" cy="1234440"/>
          </a:xfrm>
          <a:prstGeom prst="roundRect">
            <a:avLst/>
          </a:prstGeom>
          <a:solidFill>
            <a:srgbClr val="F2F4F1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1664208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58400"/>
                </a:solidFill>
                <a:latin typeface="Aptos"/>
              </a:rPr>
              <a:t>ROCK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1627632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252C"/>
                </a:solidFill>
                <a:latin typeface="Aptos"/>
              </a:rPr>
              <a:t>alternating direction</a:t>
            </a:r>
          </a:p>
          <a:p>
            <a:pPr algn="l"/>
            <a:r>
              <a:rPr sz="1400" b="1">
                <a:solidFill>
                  <a:srgbClr val="20252C"/>
                </a:solidFill>
                <a:latin typeface="Aptos"/>
              </a:rPr>
              <a:t>finite or continuous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200400"/>
            <a:ext cx="10241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07EA7"/>
                </a:solidFill>
                <a:latin typeface="Aptos"/>
              </a:rPr>
              <a:t>200 full steps/rev × 16 microsteps = 3200 commanded steps/rev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886200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20252C"/>
                </a:solidFill>
                <a:latin typeface="Aptos"/>
              </a:rPr>
              <a:t>0.05 rev = 160 commanded steps       ·       1.00 rev = 3200 commanded steps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4663440"/>
            <a:ext cx="8138160" cy="685800"/>
          </a:xfrm>
          <a:prstGeom prst="roundRect">
            <a:avLst/>
          </a:prstGeom>
          <a:solidFill>
            <a:srgbClr val="F2F4F1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40280" y="4882896"/>
            <a:ext cx="7680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58400"/>
                </a:solidFill>
                <a:latin typeface="Aptos"/>
              </a:rPr>
              <a:t>Software steps are not proof of physical shaft motion without an encoder or marker.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611956" cy="82296"/>
          </a:xfrm>
          <a:prstGeom prst="rect">
            <a:avLst/>
          </a:prstGeom>
          <a:solidFill>
            <a:srgbClr val="8C152D"/>
          </a:solidFill>
          <a:ln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96588" y="502920"/>
            <a:ext cx="1611956" cy="82296"/>
          </a:xfrm>
          <a:prstGeom prst="rect">
            <a:avLst/>
          </a:prstGeom>
          <a:solidFill>
            <a:srgbClr val="CC4070"/>
          </a:solidFill>
          <a:ln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90257" y="502920"/>
            <a:ext cx="1611956" cy="82296"/>
          </a:xfrm>
          <a:prstGeom prst="rect">
            <a:avLst/>
          </a:prstGeom>
          <a:solidFill>
            <a:srgbClr val="764397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83925" y="502920"/>
            <a:ext cx="1611956" cy="82296"/>
          </a:xfrm>
          <a:prstGeom prst="rect">
            <a:avLst/>
          </a:prstGeom>
          <a:solidFill>
            <a:srgbClr val="315BA0"/>
          </a:solidFill>
          <a:ln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77594" y="502920"/>
            <a:ext cx="1611956" cy="82296"/>
          </a:xfrm>
          <a:prstGeom prst="rect">
            <a:avLst/>
          </a:prstGeom>
          <a:solidFill>
            <a:srgbClr val="007EA7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71262" y="502920"/>
            <a:ext cx="1611956" cy="82296"/>
          </a:xfrm>
          <a:prstGeom prst="rect">
            <a:avLst/>
          </a:prstGeom>
          <a:solidFill>
            <a:srgbClr val="008460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64931" y="502920"/>
            <a:ext cx="1611956" cy="82296"/>
          </a:xfrm>
          <a:prstGeom prst="rect">
            <a:avLst/>
          </a:prstGeom>
          <a:solidFill>
            <a:srgbClr val="E58400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143000"/>
            <a:ext cx="1097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008460"/>
                </a:solidFill>
                <a:latin typeface="Apto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20252C"/>
                </a:solidFill>
                <a:latin typeface="Aptos"/>
              </a:rPr>
              <a:t>REALIZATION +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5E6770"/>
                </a:solidFill>
                <a:latin typeface="Aptos"/>
              </a:rPr>
              <a:t>A command becomes pulses, pulses become motion, and motion becomes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983480"/>
            <a:ext cx="2743200" cy="146304"/>
          </a:xfrm>
          <a:prstGeom prst="roundRect">
            <a:avLst/>
          </a:prstGeom>
          <a:solidFill>
            <a:srgbClr val="008460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6770"/>
                </a:solidFill>
                <a:latin typeface="Aptos"/>
              </a:rPr>
              <a:t>WOBBLE MECHANISMS  /  CHAPTER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C152D"/>
                </a:solidFill>
                <a:latin typeface="Aptos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37744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0252C"/>
                </a:solidFill>
                <a:latin typeface="Aptos"/>
              </a:rPr>
              <a:t>Gyro, acceleration, speed, and rocking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5895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770"/>
                </a:solidFill>
                <a:latin typeface="Aptos"/>
              </a:rPr>
              <a:t>Four signals that describe different parts of a motion event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6770"/>
                </a:solidFill>
                <a:latin typeface="Aptos"/>
              </a:rPr>
              <a:t>WOBBLE MECHANISMS  /  TECHNICAL PROTOTYPE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1371600"/>
            <a:ext cx="2331720" cy="713232"/>
          </a:xfrm>
          <a:prstGeom prst="roundRect">
            <a:avLst/>
          </a:prstGeom>
          <a:solidFill>
            <a:srgbClr val="007EA7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1581912"/>
            <a:ext cx="1965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C"/>
                </a:solidFill>
                <a:latin typeface="Aptos"/>
              </a:rPr>
              <a:t>GYROSCOPE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1481328"/>
            <a:ext cx="2971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0252C"/>
                </a:solidFill>
                <a:latin typeface="Aptos"/>
              </a:rPr>
              <a:t>angular velocity · °/s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48132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E6770"/>
                </a:solidFill>
                <a:latin typeface="Aptos"/>
              </a:rPr>
              <a:t>Primary peer-motion signal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423160"/>
            <a:ext cx="2331720" cy="713232"/>
          </a:xfrm>
          <a:prstGeom prst="roundRect">
            <a:avLst/>
          </a:prstGeom>
          <a:solidFill>
            <a:srgbClr val="008460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633472"/>
            <a:ext cx="1965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C"/>
                </a:solidFill>
                <a:latin typeface="Aptos"/>
              </a:rPr>
              <a:t>ACCELEROMETER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532888"/>
            <a:ext cx="2971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0252C"/>
                </a:solidFill>
                <a:latin typeface="Aptos"/>
              </a:rPr>
              <a:t>specific force · includes gravity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53288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E6770"/>
                </a:solidFill>
                <a:latin typeface="Aptos"/>
              </a:rPr>
              <a:t>Dynamic motion beyond 1 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474720"/>
            <a:ext cx="2331720" cy="713232"/>
          </a:xfrm>
          <a:prstGeom prst="roundRect">
            <a:avLst/>
          </a:prstGeom>
          <a:solidFill>
            <a:srgbClr val="E58400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685032"/>
            <a:ext cx="1965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C"/>
                </a:solidFill>
                <a:latin typeface="Aptos"/>
              </a:rPr>
              <a:t>RPM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584448"/>
            <a:ext cx="2971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0252C"/>
                </a:solidFill>
                <a:latin typeface="Aptos"/>
              </a:rPr>
              <a:t>motor shaft speed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58444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E6770"/>
                </a:solidFill>
                <a:latin typeface="Aptos"/>
              </a:rPr>
              <a:t>Tempo and inertial excitation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526279"/>
            <a:ext cx="2331720" cy="713232"/>
          </a:xfrm>
          <a:prstGeom prst="roundRect">
            <a:avLst/>
          </a:prstGeom>
          <a:solidFill>
            <a:srgbClr val="764397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736592"/>
            <a:ext cx="1965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C"/>
                </a:solidFill>
                <a:latin typeface="Aptos"/>
              </a:rPr>
              <a:t>ACCELERATION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636007"/>
            <a:ext cx="2971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0252C"/>
                </a:solidFill>
                <a:latin typeface="Aptos"/>
              </a:rPr>
              <a:t>RPM change rate · RPM/s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4636007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E6770"/>
                </a:solidFill>
                <a:latin typeface="Aptos"/>
              </a:rPr>
              <a:t>Gesture sharpness / vibration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669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07EA7"/>
                </a:solidFill>
                <a:latin typeface="Aptos"/>
              </a:rPr>
              <a:t>dynamic_accel = abs(|accel| − 9.80665 m/s²)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C152D"/>
                </a:solidFill>
                <a:latin typeface="Aptos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37744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0252C"/>
                </a:solidFill>
                <a:latin typeface="Aptos"/>
              </a:rPr>
              <a:t>Smooth-motion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5895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770"/>
                </a:solidFill>
                <a:latin typeface="Aptos"/>
              </a:rPr>
              <a:t>Normal motion versus controlled pre-target braking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6770"/>
                </a:solidFill>
                <a:latin typeface="Aptos"/>
              </a:rPr>
              <a:t>WOBBLE MECHANISMS  /  TECHNICAL PROTOTYPE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1463040"/>
            <a:ext cx="5029200" cy="3383280"/>
          </a:xfrm>
          <a:prstGeom prst="roundRect">
            <a:avLst/>
          </a:prstGeom>
          <a:solidFill>
            <a:srgbClr val="F2F4F1"/>
          </a:solidFill>
          <a:ln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1783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8C152D"/>
                </a:solidFill>
                <a:latin typeface="Aptos"/>
              </a:rPr>
              <a:t>NORMAL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24028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0252C"/>
                </a:solidFill>
                <a:latin typeface="Aptos"/>
              </a:rPr>
              <a:t>ramp → cruise → abrupt stop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063240"/>
            <a:ext cx="3840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E6770"/>
                </a:solidFill>
                <a:latin typeface="Aptos"/>
              </a:rPr>
              <a:t>Higher endpoint impulse</a:t>
            </a:r>
          </a:p>
          <a:p>
            <a:pPr algn="l"/>
            <a:r>
              <a:rPr sz="1500" b="0">
                <a:solidFill>
                  <a:srgbClr val="5E6770"/>
                </a:solidFill>
                <a:latin typeface="Aptos"/>
              </a:rPr>
              <a:t>More excitation at reversal / stop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463040"/>
            <a:ext cx="5029200" cy="3383280"/>
          </a:xfrm>
          <a:prstGeom prst="roundRect">
            <a:avLst/>
          </a:prstGeom>
          <a:solidFill>
            <a:srgbClr val="F2F4F1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1783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8460"/>
                </a:solidFill>
                <a:latin typeface="Aptos"/>
              </a:rPr>
              <a:t>SMOOTH DISTANCE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24028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0252C"/>
                </a:solidFill>
                <a:latin typeface="Aptos"/>
              </a:rPr>
              <a:t>ramp → cruise → brake → settle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063240"/>
            <a:ext cx="3840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E6770"/>
                </a:solidFill>
                <a:latin typeface="Aptos"/>
              </a:rPr>
              <a:t>Uses remaining distance and acceleration</a:t>
            </a:r>
          </a:p>
          <a:p>
            <a:pPr algn="l"/>
            <a:r>
              <a:rPr sz="1500" b="0">
                <a:solidFill>
                  <a:srgbClr val="5E6770"/>
                </a:solidFill>
                <a:latin typeface="Aptos"/>
              </a:rPr>
              <a:t>to reduce endpoint impulse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394960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07EA7"/>
                </a:solidFill>
                <a:latin typeface="Aptos"/>
              </a:rPr>
              <a:t>Capture and plot with dashboard/capture_session.py and dashboard/plot_session.py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C152D"/>
                </a:solidFill>
                <a:latin typeface="Aptos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37744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0252C"/>
                </a:solidFill>
                <a:latin typeface="Aptos"/>
              </a:rPr>
              <a:t>Firmware realization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5895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770"/>
                </a:solidFill>
                <a:latin typeface="Aptos"/>
              </a:rPr>
              <a:t>The control loop is deliberately legible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6770"/>
                </a:solidFill>
                <a:latin typeface="Aptos"/>
              </a:rPr>
              <a:t>WOBBLE MECHANISMS  /  TECHNICAL 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37160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0252C"/>
                </a:solidFill>
                <a:latin typeface="Aptos"/>
              </a:rPr>
              <a:t>Command parser → Stepper state machine → PWM frequency → telemetry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1874519"/>
            <a:ext cx="5577840" cy="3337560"/>
          </a:xfrm>
          <a:prstGeom prst="roundRect">
            <a:avLst/>
          </a:prstGeom>
          <a:solidFill>
            <a:srgbClr val="23272D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039112"/>
            <a:ext cx="5175503" cy="3044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4F6F2"/>
                </a:solidFill>
                <a:latin typeface="Menlo"/>
              </a:rPr>
              <a:t>if mode == "smooth_run":</a:t>
            </a:r>
          </a:p>
          <a:p>
            <a:pPr algn="l"/>
            <a:r>
              <a:rPr sz="1300" b="0">
                <a:solidFill>
                  <a:srgbClr val="F4F6F2"/>
                </a:solidFill>
                <a:latin typeface="Menlo"/>
              </a:rPr>
              <a:t>    remaining = target_steps - abs(position_float_steps)</a:t>
            </a:r>
          </a:p>
          <a:p>
            <a:pPr algn="l"/>
            <a:r>
              <a:rPr sz="1300" b="0">
                <a:solidFill>
                  <a:srgbClr val="F4F6F2"/>
                </a:solidFill>
                <a:latin typeface="Menlo"/>
              </a:rPr>
              <a:t>    braking_rpm = sqrt(remaining * 120 * accel / steps_per_rev)</a:t>
            </a:r>
          </a:p>
          <a:p>
            <a:pPr algn="l"/>
            <a:r>
              <a:rPr sz="1300" b="0">
                <a:solidFill>
                  <a:srgbClr val="F4F6F2"/>
                </a:solidFill>
                <a:latin typeface="Menlo"/>
              </a:rPr>
              <a:t>    desired_rpm = min(cruise_rpm, braking_rpm)</a:t>
            </a:r>
          </a:p>
          <a:p>
            <a:pPr algn="l"/>
            <a:r>
              <a:rPr sz="1300" b="0">
                <a:solidFill>
                  <a:srgbClr val="F4F6F2"/>
                </a:solidFill>
                <a:latin typeface="Menlo"/>
              </a:rPr>
              <a:t>ramp(rpm, desired_rpm, accel, dt)</a:t>
            </a:r>
          </a:p>
          <a:p>
            <a:pPr algn="l"/>
            <a:r>
              <a:rPr sz="1300" b="0">
                <a:solidFill>
                  <a:srgbClr val="F4F6F2"/>
                </a:solidFill>
                <a:latin typeface="Menlo"/>
              </a:rPr>
              <a:t>pwm.freq(round(rpm * steps_per_rev / 60))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1874519"/>
            <a:ext cx="4297680" cy="3337560"/>
          </a:xfrm>
          <a:prstGeom prst="roundRect">
            <a:avLst/>
          </a:prstGeom>
          <a:solidFill>
            <a:srgbClr val="23272D"/>
          </a:solidFill>
          <a:ln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22007" y="2039112"/>
            <a:ext cx="3895344" cy="3044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4F6F2"/>
                </a:solidFill>
                <a:latin typeface="Menlo"/>
              </a:rPr>
              <a:t>{"cmd":"smooth_run","rpm":10,"accel":10,</a:t>
            </a:r>
          </a:p>
          <a:p>
            <a:pPr algn="l"/>
            <a:r>
              <a:rPr sz="1300" b="0">
                <a:solidFill>
                  <a:srgbClr val="F4F6F2"/>
                </a:solidFill>
                <a:latin typeface="Menlo"/>
              </a:rPr>
              <a:t> "distance_rev":0.05,"direction":1}</a:t>
            </a:r>
          </a:p>
          <a:p>
            <a:pPr algn="l"/>
            <a:r>
              <a:rPr sz="1300" b="0">
                <a:solidFill>
                  <a:srgbClr val="F4F6F2"/>
                </a:solidFill>
                <a:latin typeface="Menlo"/>
              </a:rPr>
              <a:t/>
            </a:r>
          </a:p>
          <a:p>
            <a:pPr algn="l"/>
            <a:r>
              <a:rPr sz="1300" b="0">
                <a:solidFill>
                  <a:srgbClr val="F4F6F2"/>
                </a:solidFill>
                <a:latin typeface="Menlo"/>
              </a:rPr>
              <a:t>→ 160 commanded steps</a:t>
            </a:r>
          </a:p>
          <a:p>
            <a:pPr algn="l"/>
            <a:r>
              <a:rPr sz="1300" b="0">
                <a:solidFill>
                  <a:srgbClr val="F4F6F2"/>
                </a:solidFill>
                <a:latin typeface="Menlo"/>
              </a:rPr>
              <a:t>→ telemetry at ~30 Hz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C152D"/>
                </a:solidFill>
                <a:latin typeface="Aptos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37744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0252C"/>
                </a:solidFill>
                <a:latin typeface="Aptos"/>
              </a:rPr>
              <a:t>Peer realization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5895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770"/>
                </a:solidFill>
                <a:latin typeface="Aptos"/>
              </a:rPr>
              <a:t>A ripple is a signal-processing pipeline, not a direct mirror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6770"/>
                </a:solidFill>
                <a:latin typeface="Aptos"/>
              </a:rPr>
              <a:t>WOBBLE MECHANISMS  /  TECHNICAL PROTOTYPE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1508760"/>
            <a:ext cx="5623560" cy="3383280"/>
          </a:xfrm>
          <a:prstGeom prst="roundRect">
            <a:avLst/>
          </a:prstGeom>
          <a:solidFill>
            <a:srgbClr val="23272D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1673351"/>
            <a:ext cx="5221224" cy="3090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4F6F2"/>
                </a:solidFill>
                <a:latin typeface="Menlo"/>
              </a:rPr>
              <a:t>gyro_score  = clamp(norm(gyro) / 90, 0, 1)</a:t>
            </a:r>
          </a:p>
          <a:p>
            <a:pPr algn="l"/>
            <a:r>
              <a:rPr sz="1300" b="0">
                <a:solidFill>
                  <a:srgbClr val="F4F6F2"/>
                </a:solidFill>
                <a:latin typeface="Menlo"/>
              </a:rPr>
              <a:t>accel_score = clamp(dynamic_accel / 2.5, 0, 1)</a:t>
            </a:r>
          </a:p>
          <a:p>
            <a:pPr algn="l"/>
            <a:r>
              <a:rPr sz="1300" b="0">
                <a:solidFill>
                  <a:srgbClr val="F4F6F2"/>
                </a:solidFill>
                <a:latin typeface="Menlo"/>
              </a:rPr>
              <a:t>raw = 0.70 * gyro_score + 0.30 * accel_score</a:t>
            </a:r>
          </a:p>
          <a:p>
            <a:pPr algn="l"/>
            <a:r>
              <a:rPr sz="1300" b="0">
                <a:solidFill>
                  <a:srgbClr val="F4F6F2"/>
                </a:solidFill>
                <a:latin typeface="Menlo"/>
              </a:rPr>
              <a:t>filtered = EMA(raw, tau=0.18)</a:t>
            </a:r>
          </a:p>
          <a:p>
            <a:pPr algn="l"/>
            <a:r>
              <a:rPr sz="1300" b="0">
                <a:solidFill>
                  <a:srgbClr val="F4F6F2"/>
                </a:solidFill>
                <a:latin typeface="Menlo"/>
              </a:rPr>
              <a:t>rock = hysteresis(filtered, start=.18, stop=.10)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783080"/>
            <a:ext cx="3657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0252C"/>
                </a:solidFill>
                <a:latin typeface="Aptos"/>
              </a:rPr>
              <a:t>•  250 ms intentional delay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0252C"/>
                </a:solidFill>
                <a:latin typeface="Aptos"/>
              </a:rPr>
              <a:t>•  Follower intensity defaults to 50%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0252C"/>
                </a:solidFill>
                <a:latin typeface="Aptos"/>
              </a:rPr>
              <a:t>•  Stale packets stop the follower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0252C"/>
                </a:solidFill>
                <a:latin typeface="Aptos"/>
              </a:rPr>
              <a:t>•  Duplicate rock starts are suppressed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C152D"/>
                </a:solidFill>
                <a:latin typeface="Aptos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37744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0252C"/>
                </a:solidFill>
                <a:latin typeface="Aptos"/>
              </a:rPr>
              <a:t>Coordination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5895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770"/>
                </a:solidFill>
                <a:latin typeface="Aptos"/>
              </a:rPr>
              <a:t>A filtered, delayed, reduced-intensity response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6770"/>
                </a:solidFill>
                <a:latin typeface="Aptos"/>
              </a:rPr>
              <a:t>WOBBLE MECHANISMS  /  TECHNICAL PROTOTYPE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508760"/>
            <a:ext cx="2240280" cy="640080"/>
          </a:xfrm>
          <a:prstGeom prst="roundRect">
            <a:avLst/>
          </a:prstGeom>
          <a:solidFill>
            <a:srgbClr val="F2F4F1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709928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0252C"/>
                </a:solidFill>
                <a:latin typeface="Aptos"/>
              </a:rPr>
              <a:t>IMU sample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508760"/>
            <a:ext cx="2240280" cy="640080"/>
          </a:xfrm>
          <a:prstGeom prst="roundRect">
            <a:avLst/>
          </a:prstGeom>
          <a:solidFill>
            <a:srgbClr val="F2F4F1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1709928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0252C"/>
                </a:solidFill>
                <a:latin typeface="Aptos"/>
              </a:rPr>
              <a:t>gyro + dynamic accel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508760"/>
            <a:ext cx="2240280" cy="640080"/>
          </a:xfrm>
          <a:prstGeom prst="roundRect">
            <a:avLst/>
          </a:prstGeom>
          <a:solidFill>
            <a:srgbClr val="F2F4F1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709928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0252C"/>
                </a:solidFill>
                <a:latin typeface="Aptos"/>
              </a:rPr>
              <a:t>weighted score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508760"/>
            <a:ext cx="2240280" cy="640080"/>
          </a:xfrm>
          <a:prstGeom prst="roundRect">
            <a:avLst/>
          </a:prstGeom>
          <a:solidFill>
            <a:srgbClr val="F2F4F1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1709928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0252C"/>
                </a:solidFill>
                <a:latin typeface="Aptos"/>
              </a:rPr>
              <a:t>EMA τ = 0.18 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651760"/>
            <a:ext cx="2240280" cy="640080"/>
          </a:xfrm>
          <a:prstGeom prst="roundRect">
            <a:avLst/>
          </a:prstGeom>
          <a:solidFill>
            <a:srgbClr val="F2F4F1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852928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0252C"/>
                </a:solidFill>
                <a:latin typeface="Aptos"/>
              </a:rPr>
              <a:t>hysteresis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9000" y="2651760"/>
            <a:ext cx="2240280" cy="640080"/>
          </a:xfrm>
          <a:prstGeom prst="roundRect">
            <a:avLst/>
          </a:prstGeom>
          <a:solidFill>
            <a:srgbClr val="F2F4F1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2852928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0252C"/>
                </a:solidFill>
                <a:latin typeface="Aptos"/>
              </a:rPr>
              <a:t>250 ms delay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651760"/>
            <a:ext cx="2240280" cy="640080"/>
          </a:xfrm>
          <a:prstGeom prst="roundRect">
            <a:avLst/>
          </a:prstGeom>
          <a:solidFill>
            <a:srgbClr val="F2F4F1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852928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0252C"/>
                </a:solidFill>
                <a:latin typeface="Aptos"/>
              </a:rPr>
              <a:t>50% follower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8280" y="2651760"/>
            <a:ext cx="2240280" cy="640080"/>
          </a:xfrm>
          <a:prstGeom prst="roundRect">
            <a:avLst/>
          </a:prstGeom>
          <a:solidFill>
            <a:srgbClr val="F2F4F1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20" y="2852928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0252C"/>
                </a:solidFill>
                <a:latin typeface="Aptos"/>
              </a:rPr>
              <a:t>rock intent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977639"/>
            <a:ext cx="48463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0252C"/>
                </a:solidFill>
                <a:latin typeface="Aptos"/>
              </a:rPr>
              <a:t>gyro_score  = clamp(|gyro| / 90 dps, 0, 1)</a:t>
            </a:r>
          </a:p>
          <a:p>
            <a:pPr algn="l"/>
            <a:r>
              <a:rPr sz="1700" b="0">
                <a:solidFill>
                  <a:srgbClr val="20252C"/>
                </a:solidFill>
                <a:latin typeface="Aptos"/>
              </a:rPr>
              <a:t>accel_score = clamp(dynamic_accel / 2.5, 0, 1)</a:t>
            </a:r>
          </a:p>
          <a:p>
            <a:pPr algn="l"/>
            <a:r>
              <a:rPr sz="1700" b="0">
                <a:solidFill>
                  <a:srgbClr val="20252C"/>
                </a:solidFill>
                <a:latin typeface="Aptos"/>
              </a:rPr>
              <a:t>raw_score   = 0.70 gyro_score + 0.30 accel_score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3886200"/>
            <a:ext cx="4480560" cy="1417320"/>
          </a:xfrm>
          <a:prstGeom prst="roundRect">
            <a:avLst/>
          </a:prstGeom>
          <a:solidFill>
            <a:srgbClr val="F2F4F1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41605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58400"/>
                </a:solidFill>
                <a:latin typeface="Aptos"/>
              </a:rPr>
              <a:t>Safety behavior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52628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0252C"/>
                </a:solidFill>
                <a:latin typeface="Aptos"/>
              </a:rPr>
              <a:t>sequence validation · stale timeout · duplicate suppression · local stop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C152D"/>
                </a:solidFill>
                <a:latin typeface="Aptos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37744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0252C"/>
                </a:solidFill>
                <a:latin typeface="Aptos"/>
              </a:rPr>
              <a:t>Live plots and physical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5895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770"/>
                </a:solidFill>
                <a:latin typeface="Aptos"/>
              </a:rPr>
              <a:t>Concrete unloaded-board evidence, with explicit limits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6770"/>
                </a:solidFill>
                <a:latin typeface="Aptos"/>
              </a:rPr>
              <a:t>WOBBLE MECHANISMS  /  TECHNICAL PROTOTYPE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325880"/>
            <a:ext cx="6217920" cy="3291840"/>
          </a:xfrm>
          <a:prstGeom prst="roundRect">
            <a:avLst/>
          </a:prstGeom>
          <a:solidFill>
            <a:srgbClr val="F2F4F1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651760"/>
            <a:ext cx="585215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7EA7"/>
                </a:solidFill>
                <a:latin typeface="Aptos"/>
              </a:rPr>
              <a:t>VISUAL ASSET</a:t>
            </a:r>
          </a:p>
          <a:p>
            <a:pPr algn="ctr"/>
            <a:r>
              <a:rPr sz="1600" b="1">
                <a:solidFill>
                  <a:srgbClr val="007EA7"/>
                </a:solidFill>
                <a:latin typeface="Aptos"/>
              </a:rPr>
              <a:t>physical-validation.svg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50876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0.05 rev finite motion reached 160 steps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Continuous rocking stop latency: ~110–113 ms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Full-circle software runs reached ±3200 steps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IMU telemetry ran concurrently with PWM stepping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Observed unloaded-board temperature: ~31–32 °C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4434840"/>
            <a:ext cx="3657600" cy="777240"/>
          </a:xfrm>
          <a:prstGeom prst="roundRect">
            <a:avLst/>
          </a:prstGeom>
          <a:solidFill>
            <a:srgbClr val="F2F4F1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461772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58400"/>
                </a:solidFill>
                <a:latin typeface="Aptos"/>
              </a:rPr>
              <a:t>These results validate the command path and telemetry.</a:t>
            </a:r>
          </a:p>
          <a:p>
            <a:pPr algn="l"/>
            <a:r>
              <a:rPr sz="1200" b="1">
                <a:solidFill>
                  <a:srgbClr val="E58400"/>
                </a:solidFill>
                <a:latin typeface="Aptos"/>
              </a:rPr>
              <a:t>They do not certify loaded mechanics or missed-step rate.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611956" cy="82296"/>
          </a:xfrm>
          <a:prstGeom prst="rect">
            <a:avLst/>
          </a:prstGeom>
          <a:solidFill>
            <a:srgbClr val="8C152D"/>
          </a:solidFill>
          <a:ln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96588" y="502920"/>
            <a:ext cx="1611956" cy="82296"/>
          </a:xfrm>
          <a:prstGeom prst="rect">
            <a:avLst/>
          </a:prstGeom>
          <a:solidFill>
            <a:srgbClr val="CC4070"/>
          </a:solidFill>
          <a:ln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90257" y="502920"/>
            <a:ext cx="1611956" cy="82296"/>
          </a:xfrm>
          <a:prstGeom prst="rect">
            <a:avLst/>
          </a:prstGeom>
          <a:solidFill>
            <a:srgbClr val="764397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83925" y="502920"/>
            <a:ext cx="1611956" cy="82296"/>
          </a:xfrm>
          <a:prstGeom prst="rect">
            <a:avLst/>
          </a:prstGeom>
          <a:solidFill>
            <a:srgbClr val="315BA0"/>
          </a:solidFill>
          <a:ln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77594" y="502920"/>
            <a:ext cx="1611956" cy="82296"/>
          </a:xfrm>
          <a:prstGeom prst="rect">
            <a:avLst/>
          </a:prstGeom>
          <a:solidFill>
            <a:srgbClr val="007EA7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71262" y="502920"/>
            <a:ext cx="1611956" cy="82296"/>
          </a:xfrm>
          <a:prstGeom prst="rect">
            <a:avLst/>
          </a:prstGeom>
          <a:solidFill>
            <a:srgbClr val="008460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64931" y="502920"/>
            <a:ext cx="1611956" cy="82296"/>
          </a:xfrm>
          <a:prstGeom prst="rect">
            <a:avLst/>
          </a:prstGeom>
          <a:solidFill>
            <a:srgbClr val="E58400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143000"/>
            <a:ext cx="1097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E58400"/>
                </a:solidFill>
                <a:latin typeface="Aptos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20252C"/>
                </a:solidFill>
                <a:latin typeface="Aptos"/>
              </a:rPr>
              <a:t>FUTURE DIRECTIONS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5E6770"/>
                </a:solidFill>
                <a:latin typeface="Aptos"/>
              </a:rPr>
              <a:t>The next prototype should reduce uncertainty, not simply increase speed.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983480"/>
            <a:ext cx="2743200" cy="146304"/>
          </a:xfrm>
          <a:prstGeom prst="roundRect">
            <a:avLst/>
          </a:prstGeom>
          <a:solidFill>
            <a:srgbClr val="E58400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6770"/>
                </a:solidFill>
                <a:latin typeface="Aptos"/>
              </a:rPr>
              <a:t>WOBBLE MECHANISMS  /  CHAPTER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C152D"/>
                </a:solidFill>
                <a:latin typeface="Aptos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37744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0252C"/>
                </a:solidFill>
                <a:latin typeface="Aptos"/>
              </a:rPr>
              <a:t>Failed attempts and engineering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5895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770"/>
                </a:solidFill>
                <a:latin typeface="Aptos"/>
              </a:rPr>
              <a:t>Separating transport, power, software, and physical assumptions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6770"/>
                </a:solidFill>
                <a:latin typeface="Aptos"/>
              </a:rPr>
              <a:t>WOBBLE MECHANISMS  /  TECHNICAL PROTOTYPE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1508760"/>
            <a:ext cx="4892040" cy="1325880"/>
          </a:xfrm>
          <a:prstGeom prst="roundRect">
            <a:avLst/>
          </a:prstGeom>
          <a:solidFill>
            <a:srgbClr val="F2F4F1"/>
          </a:solidFill>
          <a:ln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1755648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C152D"/>
                </a:solidFill>
                <a:latin typeface="Aptos"/>
              </a:rPr>
              <a:t>WI-FI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173736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0252C"/>
                </a:solidFill>
                <a:latin typeface="Aptos"/>
              </a:rPr>
              <a:t>heartbeat watchdog + hotspot compatibility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79" y="1508760"/>
            <a:ext cx="4892040" cy="1325880"/>
          </a:xfrm>
          <a:prstGeom prst="roundRect">
            <a:avLst/>
          </a:prstGeom>
          <a:solidFill>
            <a:srgbClr val="F2F4F1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1755648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58400"/>
                </a:solidFill>
                <a:latin typeface="Aptos"/>
              </a:rPr>
              <a:t>POWER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59" y="173736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0252C"/>
                </a:solidFill>
                <a:latin typeface="Aptos"/>
              </a:rPr>
              <a:t>TMC VDD does not power the ESP32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383279"/>
            <a:ext cx="4892040" cy="1325880"/>
          </a:xfrm>
          <a:prstGeom prst="roundRect">
            <a:avLst/>
          </a:prstGeom>
          <a:solidFill>
            <a:srgbClr val="F2F4F1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3630168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64397"/>
                </a:solidFill>
                <a:latin typeface="Aptos"/>
              </a:rPr>
              <a:t>MOTION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611879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0252C"/>
                </a:solidFill>
                <a:latin typeface="Aptos"/>
              </a:rPr>
              <a:t>software steps can advance without shaft motion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79" y="3383279"/>
            <a:ext cx="4892040" cy="1325880"/>
          </a:xfrm>
          <a:prstGeom prst="roundRect">
            <a:avLst/>
          </a:prstGeom>
          <a:solidFill>
            <a:srgbClr val="F2F4F1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630168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7EA7"/>
                </a:solidFill>
                <a:latin typeface="Aptos"/>
              </a:rPr>
              <a:t>IMU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59" y="3611879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0252C"/>
                </a:solidFill>
                <a:latin typeface="Aptos"/>
              </a:rPr>
              <a:t>wiring, 3.3 V integrity, EMI, or address mismatch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32120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EA7"/>
                </a:solidFill>
                <a:latin typeface="Aptos"/>
              </a:rPr>
              <a:t>USB became the deterministic commissioning path; Wi-Fi remains a separate experiment.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C152D"/>
                </a:solidFill>
                <a:latin typeface="Aptos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37744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0252C"/>
                </a:solidFill>
                <a:latin typeface="Aptos"/>
              </a:rPr>
              <a:t>Validation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5895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770"/>
                </a:solidFill>
                <a:latin typeface="Aptos"/>
              </a:rPr>
              <a:t>Simulation → unloaded board → loaded mechanism →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6770"/>
                </a:solidFill>
                <a:latin typeface="Aptos"/>
              </a:rPr>
              <a:t>WOBBLE MECHANISMS  /  TECHNICAL PROTOTYPE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874519"/>
            <a:ext cx="2331720" cy="2286000"/>
          </a:xfrm>
          <a:prstGeom prst="roundRect">
            <a:avLst/>
          </a:prstGeom>
          <a:solidFill>
            <a:srgbClr val="F2F4F1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214884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07EA7"/>
                </a:solidFill>
                <a:latin typeface="Apto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274320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252C"/>
                </a:solidFill>
                <a:latin typeface="Aptos"/>
              </a:rPr>
              <a:t>SIMULATION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291840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E6770"/>
                </a:solidFill>
                <a:latin typeface="Aptos"/>
              </a:rPr>
              <a:t>model approximations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39" y="278892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E6770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1874519"/>
            <a:ext cx="2331720" cy="2286000"/>
          </a:xfrm>
          <a:prstGeom prst="roundRect">
            <a:avLst/>
          </a:prstGeom>
          <a:solidFill>
            <a:srgbClr val="F2F4F1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75887" y="214884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08460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7" y="274320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252C"/>
                </a:solidFill>
                <a:latin typeface="Aptos"/>
              </a:rPr>
              <a:t>UNLOADED 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5887" y="3291840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E6770"/>
                </a:solidFill>
                <a:latin typeface="Aptos"/>
              </a:rPr>
              <a:t>command + telemetry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79" y="278892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E6770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874519"/>
            <a:ext cx="2331720" cy="2286000"/>
          </a:xfrm>
          <a:prstGeom prst="roundRect">
            <a:avLst/>
          </a:prstGeom>
          <a:solidFill>
            <a:srgbClr val="F2F4F1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214884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E58400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274320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252C"/>
                </a:solidFill>
                <a:latin typeface="Aptos"/>
              </a:rPr>
              <a:t>LOADED 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3291840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E6770"/>
                </a:solidFill>
                <a:latin typeface="Aptos"/>
              </a:rPr>
              <a:t>tilt, thermal, missed steps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278892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E6770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1874519"/>
            <a:ext cx="2331720" cy="2286000"/>
          </a:xfrm>
          <a:prstGeom prst="roundRect">
            <a:avLst/>
          </a:prstGeom>
          <a:solidFill>
            <a:srgbClr val="F2F4F1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45168" y="214884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764397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45168" y="274320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252C"/>
                </a:solidFill>
                <a:latin typeface="Aptos"/>
              </a:rPr>
              <a:t>PRODUCT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45168" y="3291840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E6770"/>
                </a:solidFill>
                <a:latin typeface="Aptos"/>
              </a:rPr>
              <a:t>repeatability + packaging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983480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E58400"/>
                </a:solidFill>
                <a:latin typeface="Aptos"/>
              </a:rPr>
              <a:t>Do not present simulated rankings or software position as final physical performance.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C152D"/>
                </a:solidFill>
                <a:latin typeface="Aptos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37744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0252C"/>
                </a:solidFill>
                <a:latin typeface="Aptos"/>
              </a:rPr>
              <a:t>Artistic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5895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770"/>
                </a:solidFill>
                <a:latin typeface="Aptos"/>
              </a:rPr>
              <a:t>Personality, sustained presence, and movement as conversation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6770"/>
                </a:solidFill>
                <a:latin typeface="Aptos"/>
              </a:rPr>
              <a:t>WOBBLE MECHANISMS  /  TECHNICAL 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32588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0252C"/>
                </a:solidFill>
                <a:latin typeface="Aptos"/>
              </a:rPr>
              <a:t>The egg should feel like a small character.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874519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E6770"/>
                </a:solidFill>
                <a:latin typeface="Aptos"/>
              </a:rPr>
              <a:t>Not a face. Not a voice. A recognizable way of moving.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5146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0252C"/>
                </a:solidFill>
                <a:latin typeface="Aptos"/>
              </a:rPr>
              <a:t>•  PERSONALITY  — cautious, curious, confident, tired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0252C"/>
                </a:solidFill>
                <a:latin typeface="Aptos"/>
              </a:rPr>
              <a:t>•  SUSTAINED MOVEMENT  — a state, not a one-shot trick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0252C"/>
                </a:solidFill>
                <a:latin typeface="Aptos"/>
              </a:rPr>
              <a:t>•  INTERCONNECTION  — listen, delay, answer, drift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1417320"/>
            <a:ext cx="4389120" cy="3108960"/>
          </a:xfrm>
          <a:prstGeom prst="roundRect">
            <a:avLst/>
          </a:prstGeom>
          <a:solidFill>
            <a:srgbClr val="F2F4F1"/>
          </a:solidFill>
          <a:ln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1755648"/>
            <a:ext cx="37490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152D"/>
                </a:solidFill>
                <a:latin typeface="Aptos"/>
              </a:rPr>
              <a:t>MOTION AS RELATIONSHIP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2286000"/>
            <a:ext cx="3474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0252C"/>
                </a:solidFill>
                <a:latin typeface="Aptos"/>
              </a:rPr>
              <a:t>Egg A moves</a:t>
            </a:r>
          </a:p>
          <a:p>
            <a:pPr algn="l"/>
            <a:r>
              <a:rPr sz="2000" b="1">
                <a:solidFill>
                  <a:srgbClr val="20252C"/>
                </a:solidFill>
                <a:latin typeface="Aptos"/>
              </a:rPr>
              <a:t>      ↓ listen</a:t>
            </a:r>
          </a:p>
          <a:p>
            <a:pPr algn="l"/>
            <a:r>
              <a:rPr sz="2000" b="1">
                <a:solidFill>
                  <a:srgbClr val="20252C"/>
                </a:solidFill>
                <a:latin typeface="Aptos"/>
              </a:rPr>
              <a:t>Egg B answers later</a:t>
            </a:r>
          </a:p>
          <a:p>
            <a:pPr algn="l"/>
            <a:r>
              <a:rPr sz="2000" b="1">
                <a:solidFill>
                  <a:srgbClr val="20252C"/>
                </a:solidFill>
                <a:latin typeface="Aptos"/>
              </a:rPr>
              <a:t>      ↓ soften</a:t>
            </a:r>
          </a:p>
          <a:p>
            <a:pPr algn="l"/>
            <a:r>
              <a:rPr sz="2000" b="1">
                <a:solidFill>
                  <a:srgbClr val="20252C"/>
                </a:solidFill>
                <a:latin typeface="Aptos"/>
              </a:rPr>
              <a:t>Both settle / continue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977639"/>
            <a:ext cx="3657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E6770"/>
                </a:solidFill>
                <a:latin typeface="Aptos"/>
              </a:rPr>
              <a:t>Perfect synchronization = duplication</a:t>
            </a:r>
          </a:p>
          <a:p>
            <a:pPr algn="l"/>
            <a:r>
              <a:rPr sz="1200" b="0">
                <a:solidFill>
                  <a:srgbClr val="5E6770"/>
                </a:solidFill>
                <a:latin typeface="Aptos"/>
              </a:rPr>
              <a:t>Delay + variation = personality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828800"/>
            <a:ext cx="2148840" cy="868680"/>
          </a:xfrm>
          <a:prstGeom prst="roundRect">
            <a:avLst/>
          </a:prstGeom>
          <a:solidFill>
            <a:srgbClr val="F2F4F1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993392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07EA7"/>
                </a:solidFill>
                <a:latin typeface="Aptos"/>
              </a:rPr>
              <a:t>ACCELERATION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304288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0252C"/>
                </a:solidFill>
                <a:latin typeface="Aptos"/>
              </a:rPr>
              <a:t>gesture sharpness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828800"/>
            <a:ext cx="2148840" cy="868680"/>
          </a:xfrm>
          <a:prstGeom prst="roundRect">
            <a:avLst/>
          </a:prstGeom>
          <a:solidFill>
            <a:srgbClr val="F2F4F1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1993392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58400"/>
                </a:solidFill>
                <a:latin typeface="Aptos"/>
              </a:rPr>
              <a:t>RPM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2304288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0252C"/>
                </a:solidFill>
                <a:latin typeface="Aptos"/>
              </a:rPr>
              <a:t>tempo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154680"/>
            <a:ext cx="2148840" cy="868680"/>
          </a:xfrm>
          <a:prstGeom prst="roundRect">
            <a:avLst/>
          </a:prstGeom>
          <a:solidFill>
            <a:srgbClr val="F2F4F1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319272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08460"/>
                </a:solidFill>
                <a:latin typeface="Aptos"/>
              </a:rPr>
              <a:t>AMPLITUDE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630168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0252C"/>
                </a:solidFill>
                <a:latin typeface="Aptos"/>
              </a:rPr>
              <a:t>intensity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15400" y="3154680"/>
            <a:ext cx="2148840" cy="868680"/>
          </a:xfrm>
          <a:prstGeom prst="roundRect">
            <a:avLst/>
          </a:prstGeom>
          <a:solidFill>
            <a:srgbClr val="F2F4F1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6840" y="3319272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764397"/>
                </a:solidFill>
                <a:latin typeface="Aptos"/>
              </a:rPr>
              <a:t>DELAY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3630168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0252C"/>
                </a:solidFill>
                <a:latin typeface="Aptos"/>
              </a:rPr>
              <a:t>anticipation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C152D"/>
                </a:solidFill>
                <a:latin typeface="Aptos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37744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0252C"/>
                </a:solidFill>
                <a:latin typeface="Aptos"/>
              </a:rPr>
              <a:t>Future engineering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5895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770"/>
                </a:solidFill>
                <a:latin typeface="Aptos"/>
              </a:rPr>
              <a:t>The next milestone is proving loaded mechanical behavior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6770"/>
                </a:solidFill>
                <a:latin typeface="Aptos"/>
              </a:rPr>
              <a:t>WOBBLE MECHANISMS  /  TECHNICAL 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41732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0252C"/>
                </a:solidFill>
                <a:latin typeface="Aptos"/>
              </a:rPr>
              <a:t>•  Add a shaft marker or encoder; measure missed steps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0252C"/>
                </a:solidFill>
                <a:latin typeface="Aptos"/>
              </a:rPr>
              <a:t>•  Measure shell mass, center of mass, inertia, and linkage ratio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0252C"/>
                </a:solidFill>
                <a:latin typeface="Aptos"/>
              </a:rPr>
              <a:t>•  Validate ESP32 power and TMC current limits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0252C"/>
                </a:solidFill>
                <a:latin typeface="Aptos"/>
              </a:rPr>
              <a:t>•  Measure loaded tilt, natural frequency, temperature, repeatability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0252C"/>
                </a:solidFill>
                <a:latin typeface="Aptos"/>
              </a:rPr>
              <a:t>•  Create production PCB design with protection and test points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0252C"/>
                </a:solidFill>
                <a:latin typeface="Aptos"/>
              </a:rPr>
              <a:t>•  Mature peer transport after independent motion is reliable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554480"/>
            <a:ext cx="3566160" cy="3474720"/>
          </a:xfrm>
          <a:prstGeom prst="roundRect">
            <a:avLst/>
          </a:prstGeom>
          <a:solidFill>
            <a:srgbClr val="F2F4F1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201168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7EA7"/>
                </a:solidFill>
                <a:latin typeface="Aptos"/>
              </a:rPr>
              <a:t>PROTOTYPE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60604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5E6770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154680"/>
            <a:ext cx="2560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58400"/>
                </a:solidFill>
                <a:latin typeface="Aptos"/>
              </a:rPr>
              <a:t>INSTRUMENTED</a:t>
            </a:r>
          </a:p>
          <a:p>
            <a:pPr algn="ctr"/>
            <a:r>
              <a:rPr sz="1800" b="1">
                <a:solidFill>
                  <a:srgbClr val="E58400"/>
                </a:solidFill>
                <a:latin typeface="Aptos"/>
              </a:rPr>
              <a:t>PROTOTYPE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388620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5E6770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4434840"/>
            <a:ext cx="2560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8460"/>
                </a:solidFill>
                <a:latin typeface="Aptos"/>
              </a:rPr>
              <a:t>DEPLOYABLE</a:t>
            </a:r>
          </a:p>
          <a:p>
            <a:pPr algn="ctr"/>
            <a:r>
              <a:rPr sz="1800" b="1">
                <a:solidFill>
                  <a:srgbClr val="008460"/>
                </a:solidFill>
                <a:latin typeface="Aptos"/>
              </a:rPr>
              <a:t>OBJECT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611956" cy="82296"/>
          </a:xfrm>
          <a:prstGeom prst="rect">
            <a:avLst/>
          </a:prstGeom>
          <a:solidFill>
            <a:srgbClr val="8C152D"/>
          </a:solidFill>
          <a:ln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96588" y="502920"/>
            <a:ext cx="1611956" cy="82296"/>
          </a:xfrm>
          <a:prstGeom prst="rect">
            <a:avLst/>
          </a:prstGeom>
          <a:solidFill>
            <a:srgbClr val="CC4070"/>
          </a:solidFill>
          <a:ln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90257" y="502920"/>
            <a:ext cx="1611956" cy="82296"/>
          </a:xfrm>
          <a:prstGeom prst="rect">
            <a:avLst/>
          </a:prstGeom>
          <a:solidFill>
            <a:srgbClr val="764397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83925" y="502920"/>
            <a:ext cx="1611956" cy="82296"/>
          </a:xfrm>
          <a:prstGeom prst="rect">
            <a:avLst/>
          </a:prstGeom>
          <a:solidFill>
            <a:srgbClr val="315BA0"/>
          </a:solidFill>
          <a:ln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77594" y="502920"/>
            <a:ext cx="1611956" cy="82296"/>
          </a:xfrm>
          <a:prstGeom prst="rect">
            <a:avLst/>
          </a:prstGeom>
          <a:solidFill>
            <a:srgbClr val="007EA7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71262" y="502920"/>
            <a:ext cx="1611956" cy="82296"/>
          </a:xfrm>
          <a:prstGeom prst="rect">
            <a:avLst/>
          </a:prstGeom>
          <a:solidFill>
            <a:srgbClr val="008460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64931" y="502920"/>
            <a:ext cx="1611956" cy="82296"/>
          </a:xfrm>
          <a:prstGeom prst="rect">
            <a:avLst/>
          </a:prstGeom>
          <a:solidFill>
            <a:srgbClr val="E58400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143000"/>
            <a:ext cx="1097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764397"/>
                </a:solidFill>
                <a:latin typeface="Aptos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20252C"/>
                </a:solidFill>
                <a:latin typeface="Aptos"/>
              </a:rPr>
              <a:t>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5E6770"/>
                </a:solidFill>
                <a:latin typeface="Aptos"/>
              </a:rPr>
              <a:t>The useful result is not a perfect wobble; it is a better question.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983480"/>
            <a:ext cx="2743200" cy="146304"/>
          </a:xfrm>
          <a:prstGeom prst="roundRect">
            <a:avLst/>
          </a:prstGeom>
          <a:solidFill>
            <a:srgbClr val="764397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6770"/>
                </a:solidFill>
                <a:latin typeface="Aptos"/>
              </a:rPr>
              <a:t>WOBBLE MECHANISMS  /  CHAPTER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C152D"/>
                </a:solidFill>
                <a:latin typeface="Aptos"/>
              </a:rP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37744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0252C"/>
                </a:solidFill>
                <a:latin typeface="Aptos"/>
              </a:rPr>
              <a:t>What We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5895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770"/>
                </a:solidFill>
                <a:latin typeface="Aptos"/>
              </a:rPr>
              <a:t>Live reflection slide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6770"/>
                </a:solidFill>
                <a:latin typeface="Aptos"/>
              </a:rPr>
              <a:t>WOBBLE MECHANISMS  /  TECHNICAL 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508760"/>
            <a:ext cx="8321040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0">
                <a:solidFill>
                  <a:srgbClr val="5E6770"/>
                </a:solidFill>
                <a:latin typeface="Aptos"/>
              </a:rPr>
              <a:t>What surprised us?</a:t>
            </a:r>
          </a:p>
          <a:p>
            <a:pPr algn="ctr"/>
            <a:r>
              <a:rPr sz="2500" b="0">
                <a:solidFill>
                  <a:srgbClr val="5E6770"/>
                </a:solidFill>
                <a:latin typeface="Aptos"/>
              </a:rPr>
              <a:t/>
            </a:r>
          </a:p>
          <a:p>
            <a:pPr algn="ctr"/>
            <a:r>
              <a:rPr sz="2500" b="0">
                <a:solidFill>
                  <a:srgbClr val="5E6770"/>
                </a:solidFill>
                <a:latin typeface="Aptos"/>
              </a:rPr>
              <a:t>Which assumption failed?</a:t>
            </a:r>
          </a:p>
          <a:p>
            <a:pPr algn="ctr"/>
            <a:r>
              <a:rPr sz="2500" b="0">
                <a:solidFill>
                  <a:srgbClr val="5E6770"/>
                </a:solidFill>
                <a:latin typeface="Aptos"/>
              </a:rPr>
              <a:t/>
            </a:r>
          </a:p>
          <a:p>
            <a:pPr algn="ctr"/>
            <a:r>
              <a:rPr sz="2500" b="0">
                <a:solidFill>
                  <a:srgbClr val="5E6770"/>
                </a:solidFill>
                <a:latin typeface="Aptos"/>
              </a:rPr>
              <a:t>What should the next prototype teach us?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5394960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7EA7"/>
                </a:solidFill>
                <a:latin typeface="Aptos"/>
              </a:rPr>
              <a:t>Intentionally left open for presentation notes and audience reflection.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C152D"/>
                </a:solidFill>
                <a:latin typeface="Aptos"/>
              </a:rP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37744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0252C"/>
                </a:solidFill>
                <a:latin typeface="Aptos"/>
              </a:rPr>
              <a:t>Appendix /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5895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770"/>
                </a:solidFill>
                <a:latin typeface="Aptos"/>
              </a:rPr>
              <a:t>Evidence and implementation 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6770"/>
                </a:solidFill>
                <a:latin typeface="Aptos"/>
              </a:rPr>
              <a:t>WOBBLE MECHANISMS  /  TECHNICAL PROTOTYPE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1463040"/>
            <a:ext cx="10149840" cy="4206240"/>
          </a:xfrm>
          <a:prstGeom prst="roundRect">
            <a:avLst/>
          </a:prstGeom>
          <a:solidFill>
            <a:srgbClr val="F2F4F1"/>
          </a:solidFill>
          <a:ln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1783080"/>
            <a:ext cx="95097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0252C"/>
                </a:solidFill>
                <a:latin typeface="Menlo"/>
              </a:rPr>
              <a:t>simulator/docs/PRESENTATION_OUTLINE.md</a:t>
            </a:r>
          </a:p>
          <a:p>
            <a:pPr algn="l"/>
            <a:r>
              <a:rPr sz="1700" b="0">
                <a:solidFill>
                  <a:srgbClr val="20252C"/>
                </a:solidFill>
                <a:latin typeface="Menlo"/>
              </a:rPr>
              <a:t>simulator/docs/TECHNICAL_PRESENTATION.md</a:t>
            </a:r>
          </a:p>
          <a:p>
            <a:pPr algn="l"/>
            <a:r>
              <a:rPr sz="1700" b="0">
                <a:solidFill>
                  <a:srgbClr val="20252C"/>
                </a:solidFill>
                <a:latin typeface="Menlo"/>
              </a:rPr>
              <a:t>simulator/docs/assets/system-architecture.svg</a:t>
            </a:r>
          </a:p>
          <a:p>
            <a:pPr algn="l"/>
            <a:r>
              <a:rPr sz="1700" b="0">
                <a:solidFill>
                  <a:srgbClr val="20252C"/>
                </a:solidFill>
                <a:latin typeface="Menlo"/>
              </a:rPr>
              <a:t>simulator/docs/assets/egg-unit-sheet1-schematic.svg</a:t>
            </a:r>
          </a:p>
          <a:p>
            <a:pPr algn="l"/>
            <a:r>
              <a:rPr sz="1700" b="0">
                <a:solidFill>
                  <a:srgbClr val="20252C"/>
                </a:solidFill>
                <a:latin typeface="Menlo"/>
              </a:rPr>
              <a:t>simulator/docs/assets/physical-validation.svg</a:t>
            </a:r>
          </a:p>
          <a:p>
            <a:pPr algn="l"/>
            <a:r>
              <a:rPr sz="1700" b="0">
                <a:solidFill>
                  <a:srgbClr val="20252C"/>
                </a:solidFill>
                <a:latin typeface="Menlo"/>
              </a:rPr>
              <a:t>simulator/wired_tests/physical_test_log.md</a:t>
            </a:r>
          </a:p>
          <a:p>
            <a:pPr algn="l"/>
            <a:r>
              <a:rPr sz="1700" b="0">
                <a:solidFill>
                  <a:srgbClr val="20252C"/>
                </a:solidFill>
                <a:latin typeface="Menlo"/>
              </a:rPr>
              <a:t>simulator/dashboard/capture_session.py</a:t>
            </a:r>
          </a:p>
          <a:p>
            <a:pPr algn="l"/>
            <a:r>
              <a:rPr sz="1700" b="0">
                <a:solidFill>
                  <a:srgbClr val="20252C"/>
                </a:solidFill>
                <a:latin typeface="Menlo"/>
              </a:rPr>
              <a:t>simulator/dashboard/plot_session.py</a:t>
            </a:r>
          </a:p>
          <a:p>
            <a:pPr algn="l"/>
            <a:r>
              <a:rPr sz="1700" b="0">
                <a:solidFill>
                  <a:srgbClr val="20252C"/>
                </a:solidFill>
                <a:latin typeface="Menlo"/>
              </a:rPr>
              <a:t>simulator/dual_board/test_ripple_logic.py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