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2" r:id="rId13"/>
    <p:sldId id="261" r:id="rId12"/>
    <p:sldId id="281" r:id="rId32"/>
    <p:sldId id="258" r:id="rId9"/>
    <p:sldId id="259" r:id="rId10"/>
    <p:sldId id="260" r:id="rId11"/>
    <p:sldId id="276" r:id="rId27"/>
    <p:sldId id="271" r:id="rId22"/>
    <p:sldId id="263" r:id="rId14"/>
    <p:sldId id="264" r:id="rId15"/>
    <p:sldId id="275" r:id="rId26"/>
    <p:sldId id="265" r:id="rId16"/>
    <p:sldId id="266" r:id="rId17"/>
    <p:sldId id="267" r:id="rId18"/>
    <p:sldId id="268" r:id="rId19"/>
    <p:sldId id="269" r:id="rId20"/>
    <p:sldId id="270" r:id="rId21"/>
    <p:sldId id="272" r:id="rId23"/>
    <p:sldId id="273" r:id="rId24"/>
    <p:sldId id="274" r:id="rId25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40080"/>
            <a:ext cx="1559705" cy="109728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27217" y="640080"/>
            <a:ext cx="1559705" cy="109728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68634" y="640080"/>
            <a:ext cx="1559705" cy="109728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10051" y="640080"/>
            <a:ext cx="1559705" cy="109728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1468" y="640080"/>
            <a:ext cx="1559705" cy="109728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92885" y="640080"/>
            <a:ext cx="1559705" cy="109728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34302" y="640080"/>
            <a:ext cx="1559705" cy="109728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5120640" cy="1325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>
                <a:solidFill>
                  <a:srgbClr val="8C152D"/>
                </a:solidFill>
                <a:latin typeface="Aptos"/>
              </a:rPr>
              <a:t>WOBBLE</a:t>
            </a:r>
          </a:p>
          <a:p>
            <a:pPr algn="l">
              <a:spcAft>
                <a:spcPts val="200"/>
              </a:spcAft>
            </a:pPr>
            <a:r>
              <a:rPr sz="4200" b="1">
                <a:solidFill>
                  <a:srgbClr val="8C152D"/>
                </a:solidFill>
                <a:latin typeface="Aptos"/>
              </a:rPr>
              <a:t>MECHANISMS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6583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07EA7"/>
                </a:solidFill>
                <a:latin typeface="Aptos"/>
              </a:rPr>
              <a:t>From restoring torque to a measured motion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65836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E6770"/>
                </a:solidFill>
                <a:latin typeface="Aptos"/>
              </a:rPr>
              <a:t>ESP32 / BNO055 / TMC2209 / stepper actuation / USB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2468880" cy="256032"/>
          </a:xfrm>
          <a:prstGeom prst="round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23960" y="1856232"/>
            <a:ext cx="2468880" cy="256032"/>
          </a:xfrm>
          <a:prstGeom prst="round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43800" y="2295144"/>
            <a:ext cx="2468880" cy="256032"/>
          </a:xfrm>
          <a:prstGeom prst="round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23960" y="2734056"/>
            <a:ext cx="2468880" cy="256032"/>
          </a:xfrm>
          <a:prstGeom prst="round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43800" y="3172968"/>
            <a:ext cx="2468880" cy="256032"/>
          </a:xfrm>
          <a:prstGeom prst="round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23960" y="3611880"/>
            <a:ext cx="2468880" cy="256032"/>
          </a:xfrm>
          <a:prstGeom prst="round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43800" y="4050791"/>
            <a:ext cx="2468880" cy="256032"/>
          </a:xfrm>
          <a:prstGeom prst="round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6675120" cy="685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20252C"/>
                </a:solidFill>
                <a:latin typeface="Aptos"/>
              </a:rPr>
              <a:t>A bottom-heavy body turns an internal torque command into visible motion.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20252C"/>
                </a:solidFill>
                <a:latin typeface="Aptos"/>
              </a:rPr>
              <a:t>The dashboard closes the loop with orientation, inertial, and motor state.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The motion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The technical question is how input becomes measurable wobble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25880"/>
            <a:ext cx="1042416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0252C"/>
                </a:solidFill>
                <a:latin typeface="Aptos"/>
              </a:rPr>
              <a:t>Command becomes useful when the physical response is observable.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10512"/>
            <a:ext cx="1645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7EA7"/>
                </a:solidFill>
                <a:latin typeface="Aptos"/>
              </a:rPr>
              <a:t>FORWARD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103120"/>
            <a:ext cx="1645920" cy="13258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267712"/>
            <a:ext cx="14264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633472"/>
            <a:ext cx="1389888" cy="70408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JSON over USB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115200 bit/s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2103120"/>
            <a:ext cx="1645920" cy="13258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81528" y="2267712"/>
            <a:ext cx="14264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315BA0"/>
                </a:solidFill>
                <a:latin typeface="Aptos"/>
              </a:rPr>
              <a:t>CURRENT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9816" y="2633472"/>
            <a:ext cx="1389888" cy="70408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TMC2209 coil drive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I [A]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2103120"/>
            <a:ext cx="1645920" cy="13258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7528" y="2267712"/>
            <a:ext cx="14264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8C152D"/>
                </a:solidFill>
                <a:latin typeface="Aptos"/>
              </a:rPr>
              <a:t>TORQUE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2633472"/>
            <a:ext cx="1389888" cy="70408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Stepper shaft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τ [N·m]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103120"/>
            <a:ext cx="1645920" cy="13258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7" y="2267712"/>
            <a:ext cx="14264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REACTION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6" y="2633472"/>
            <a:ext cx="1389888" cy="70408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Offset mass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τreaction [N·m]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2103120"/>
            <a:ext cx="1645920" cy="13258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267712"/>
            <a:ext cx="14264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WOBBLE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7816" y="2633472"/>
            <a:ext cx="1389888" cy="70408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Egg tilt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θ [deg]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31720" y="2761488"/>
            <a:ext cx="502919" cy="0"/>
          </a:xfrm>
          <a:prstGeom prst="line">
            <a:avLst/>
          </a:prstGeom>
          <a:ln w="2286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617720" y="2761488"/>
            <a:ext cx="502920" cy="0"/>
          </a:xfrm>
          <a:prstGeom prst="line">
            <a:avLst/>
          </a:prstGeom>
          <a:ln w="2286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03720" y="2761488"/>
            <a:ext cx="502920" cy="0"/>
          </a:xfrm>
          <a:prstGeom prst="line">
            <a:avLst/>
          </a:prstGeom>
          <a:ln w="2286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89720" y="2761488"/>
            <a:ext cx="502920" cy="0"/>
          </a:xfrm>
          <a:prstGeom prst="line">
            <a:avLst/>
          </a:prstGeom>
          <a:ln w="2286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828800" y="4160520"/>
            <a:ext cx="8503920" cy="10972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4425696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FEEDBACK / SAFETY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425696"/>
            <a:ext cx="55321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BNO055: orientation θ [deg]   |   gyro ω [deg/s]   |   acceleration a [m/s²]   |   temperature T [°C]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052560" y="3474720"/>
            <a:ext cx="0" cy="658367"/>
          </a:xfrm>
          <a:prstGeom prst="line">
            <a:avLst/>
          </a:prstGeom>
          <a:ln w="17780">
            <a:solidFill>
              <a:srgbClr val="7643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011680" y="3474720"/>
            <a:ext cx="0" cy="658367"/>
          </a:xfrm>
          <a:prstGeom prst="line">
            <a:avLst/>
          </a:prstGeom>
          <a:ln w="17780">
            <a:solidFill>
              <a:srgbClr val="7643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2960" y="5623560"/>
            <a:ext cx="1056132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Dashboard observes orientation, inertial, and motor state. Stable-rock safety + peer filtering use it; ordinary run/rock remains open-loop.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Why the egg self-rights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Gravity creates a restoring torque when the center of mass is offset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52120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E58400"/>
                </a:solidFill>
                <a:latin typeface="Aptos"/>
              </a:rPr>
              <a:t>τg = −m g ℓCoM sin(θ)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11680"/>
            <a:ext cx="13716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τg [N·m]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23160"/>
            <a:ext cx="5074920" cy="2423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m [kg] is total body mass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g = 9.81 [m/s²] is gravitational acceleration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ℓCoM [m] is the contact-to-CoM lever arm used in the torque equation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dCoM [m] is the modeled offset below geometric center; contact geometry remains to be measured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θ [rad] is tilt from upright; θrad = θdeg × π/180 converts IMU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530352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07EA7"/>
                </a:solidFill>
                <a:latin typeface="Aptos"/>
              </a:rPr>
              <a:t>Near upright: sin(θ) ≈ θ, so k_g = m g ℓCoM [N·m/rad].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25880"/>
            <a:ext cx="4480560" cy="41605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09560" y="1828800"/>
            <a:ext cx="1508760" cy="2651760"/>
          </a:xfrm>
          <a:prstGeom prst="roundRect">
            <a:avLst/>
          </a:prstGeom>
          <a:solidFill>
            <a:srgbClr val="EEE2BE"/>
          </a:solidFill>
          <a:ln w="13970">
            <a:solidFill>
              <a:srgbClr val="EEE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02752" y="3657600"/>
            <a:ext cx="731520" cy="640080"/>
          </a:xfrm>
          <a:prstGeom prst="round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14816" y="2743200"/>
            <a:ext cx="146304" cy="146304"/>
          </a:xfrm>
          <a:prstGeom prst="round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840480"/>
            <a:ext cx="64008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C"/>
                </a:solidFill>
                <a:latin typeface="Aptos"/>
              </a:rPr>
              <a:t>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645152"/>
            <a:ext cx="13258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E6770"/>
                </a:solidFill>
                <a:latin typeface="Aptos"/>
              </a:rPr>
              <a:t>contact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887968" y="1673352"/>
            <a:ext cx="0" cy="1234440"/>
          </a:xfrm>
          <a:prstGeom prst="line">
            <a:avLst/>
          </a:prstGeom>
          <a:ln w="20320">
            <a:solidFill>
              <a:srgbClr val="007E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098280" y="1508760"/>
            <a:ext cx="118872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gravity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F = m g [N]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1200" y="2880360"/>
            <a:ext cx="685800" cy="0"/>
          </a:xfrm>
          <a:prstGeom prst="line">
            <a:avLst/>
          </a:prstGeom>
          <a:ln w="19050">
            <a:solidFill>
              <a:srgbClr val="E5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46920" y="3154680"/>
            <a:ext cx="10058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252C"/>
                </a:solidFill>
                <a:latin typeface="Aptos"/>
              </a:rPr>
              <a:t>θ [deg]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252C"/>
                </a:solidFill>
                <a:latin typeface="Aptos"/>
              </a:rPr>
              <a:t>measured by IMU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047488"/>
            <a:ext cx="38404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252C"/>
                </a:solidFill>
                <a:latin typeface="Aptos"/>
              </a:rPr>
              <a:t>Model example: m = 0.500 [kg], dCoM = 0.025 [m].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The rotational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Torque, angular speed, work, and power describe the actuator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257800" cy="41605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91640"/>
            <a:ext cx="301752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8C152D"/>
                </a:solidFill>
                <a:latin typeface="Aptos"/>
              </a:rPr>
              <a:t>TORQUE AND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48840"/>
            <a:ext cx="29260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τ = r ×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51760"/>
            <a:ext cx="3931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E6770"/>
                </a:solidFill>
                <a:latin typeface="Aptos"/>
              </a:rPr>
              <a:t>τ [N·m]   r [m]   F [N]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00400"/>
            <a:ext cx="292608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20252C"/>
                </a:solidFill>
                <a:latin typeface="Aptos"/>
              </a:rPr>
              <a:t>W = ∫ τ dθ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27432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E6770"/>
                </a:solidFill>
                <a:latin typeface="Aptos"/>
              </a:rPr>
              <a:t>W [J]   θ [rad]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315968"/>
            <a:ext cx="4343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A longer lever arm gives more rotational push for the same force.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371600"/>
            <a:ext cx="5166360" cy="41605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691640"/>
            <a:ext cx="40233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15BA0"/>
                </a:solidFill>
                <a:latin typeface="Aptos"/>
              </a:rPr>
              <a:t>SPEED, POWER, AND GEARS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48840"/>
            <a:ext cx="420624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0252C"/>
                </a:solidFill>
                <a:latin typeface="Aptos"/>
              </a:rPr>
              <a:t>ω = 2π · RPM / 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587752"/>
            <a:ext cx="4206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E6770"/>
                </a:solidFill>
                <a:latin typeface="Aptos"/>
              </a:rPr>
              <a:t>ω [rad/s]   RPM [rev/min]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108960"/>
            <a:ext cx="329184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20252C"/>
                </a:solidFill>
                <a:latin typeface="Aptos"/>
              </a:rPr>
              <a:t>Pmech = τ 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547872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5E6770"/>
                </a:solidFill>
                <a:latin typeface="Aptos"/>
              </a:rPr>
              <a:t>Pmech [W]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23360"/>
            <a:ext cx="434340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Ideal reduction N [-]:  ωout = ωmotor / N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τout ≈ ηg N τmotor  [N·m]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83480"/>
            <a:ext cx="4343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7EA7"/>
                </a:solidFill>
                <a:latin typeface="Aptos"/>
              </a:rPr>
              <a:t>Gears trade speed for torque; ηg [-] captures loss.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06440"/>
            <a:ext cx="10287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Causal flow: F [N] → τ [N·m] → W [J] → ω [rad/s] → P [W] → geared output [N·m]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Where the energy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A command changes electrical energy into motion, storage, and dissipation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25880"/>
            <a:ext cx="1051560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0252C"/>
                </a:solidFill>
                <a:latin typeface="Aptos"/>
              </a:rPr>
              <a:t>Energy transitions make the technical story testable: each arrow names a quantity we can measure or estimate.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148840"/>
            <a:ext cx="2240280" cy="14173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313432"/>
            <a:ext cx="202082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7EA7"/>
                </a:solidFill>
                <a:latin typeface="Aptos"/>
              </a:rPr>
              <a:t>ELECTRICAL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679192"/>
            <a:ext cx="1984248" cy="7955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Eelec = ∫ V I dt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V [V], I [A], t [s] → E [J]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2148840"/>
            <a:ext cx="2240280" cy="14173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2313432"/>
            <a:ext cx="202082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8C152D"/>
                </a:solidFill>
                <a:latin typeface="Aptos"/>
              </a:rPr>
              <a:t>MECHANICAL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2679192"/>
            <a:ext cx="1984248" cy="7955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Pmech = τω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τ [N·m], ω [rad/s] → P [W]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148840"/>
            <a:ext cx="2240280" cy="14173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313432"/>
            <a:ext cx="202082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58400"/>
                </a:solidFill>
                <a:latin typeface="Aptos"/>
              </a:rPr>
              <a:t>MECHANICAL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679192"/>
            <a:ext cx="1984248" cy="7955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K = ½ Jω² [J]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ΔU = m g d(1 − cos θ) [J]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J [kg·m²], d [m], θ [rad]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2148840"/>
            <a:ext cx="2240280" cy="14173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2313432"/>
            <a:ext cx="202082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764397"/>
                </a:solidFill>
                <a:latin typeface="Aptos"/>
              </a:rPr>
              <a:t>DISSIPATION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2679192"/>
            <a:ext cx="1984248" cy="7955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friction + damping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coil heat + sound [J]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63240" y="2852928"/>
            <a:ext cx="384048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97880" y="2852928"/>
            <a:ext cx="384048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732520" y="2852928"/>
            <a:ext cx="384048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4251960"/>
            <a:ext cx="10287000" cy="10058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553712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EFFICIENCY 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462272"/>
            <a:ext cx="356616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20252C"/>
                </a:solidFill>
                <a:latin typeface="Aptos"/>
              </a:rPr>
              <a:t>ηsystem [-] = Pmech [W] / Pelec [W]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498848"/>
            <a:ext cx="3703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Electrical power, output torque, and loaded energy efficiency are not yet measured.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15000"/>
            <a:ext cx="1028700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The next experiment instruments Vsupply [V], Isupply [A], torque [N·m], and body response θ [deg].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Components inside one egg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Each part owns one stage of the sensing-to-motion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325880"/>
            <a:ext cx="914400" cy="576072"/>
          </a:xfrm>
          <a:prstGeom prst="round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90472"/>
            <a:ext cx="914400" cy="2103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C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399032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07EA7"/>
                </a:solidFill>
                <a:latin typeface="Aptos"/>
              </a:rPr>
              <a:t>BNO055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417320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E6770"/>
                </a:solidFill>
                <a:latin typeface="Aptos"/>
              </a:rPr>
              <a:t>IMU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141732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0252C"/>
                </a:solidFill>
                <a:latin typeface="Aptos"/>
              </a:rPr>
              <a:t>orientation [deg], acceleration [m/s²], gyro [deg/s]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34440" y="1920240"/>
            <a:ext cx="0" cy="228600"/>
          </a:xfrm>
          <a:prstGeom prst="line">
            <a:avLst/>
          </a:prstGeom>
          <a:ln w="127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2157984"/>
            <a:ext cx="914400" cy="576072"/>
          </a:xfrm>
          <a:prstGeom prst="round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322576"/>
            <a:ext cx="914400" cy="2103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C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2231136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315BA0"/>
                </a:solidFill>
                <a:latin typeface="Aptos"/>
              </a:rPr>
              <a:t>ESP32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249424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E6770"/>
                </a:solidFill>
                <a:latin typeface="Aptos"/>
              </a:rPr>
              <a:t>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2249424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0252C"/>
                </a:solidFill>
                <a:latin typeface="Aptos"/>
              </a:rPr>
              <a:t>parses JSON, schedules motion, emits telemetry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34440" y="2752344"/>
            <a:ext cx="0" cy="228600"/>
          </a:xfrm>
          <a:prstGeom prst="line">
            <a:avLst/>
          </a:prstGeom>
          <a:ln w="127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" y="2990088"/>
            <a:ext cx="914400" cy="576072"/>
          </a:xfrm>
          <a:prstGeom prst="round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154680"/>
            <a:ext cx="914400" cy="2103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C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3063240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8C152D"/>
                </a:solidFill>
                <a:latin typeface="Aptos"/>
              </a:rPr>
              <a:t>TMC2209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081528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E6770"/>
                </a:solidFill>
                <a:latin typeface="Aptos"/>
              </a:rPr>
              <a:t>driver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3081528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0252C"/>
                </a:solidFill>
                <a:latin typeface="Aptos"/>
              </a:rPr>
              <a:t>regulates phase current [A] at a hardware-configured limit; STEP / DIR / ENN provide pulse, direction, enable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34440" y="3584448"/>
            <a:ext cx="0" cy="228600"/>
          </a:xfrm>
          <a:prstGeom prst="line">
            <a:avLst/>
          </a:prstGeom>
          <a:ln w="127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7240" y="3822191"/>
            <a:ext cx="914400" cy="576072"/>
          </a:xfrm>
          <a:prstGeom prst="round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986783"/>
            <a:ext cx="914400" cy="2103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C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3895344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E58400"/>
                </a:solidFill>
                <a:latin typeface="Aptos"/>
              </a:rPr>
              <a:t>STEPPER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913631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E6770"/>
                </a:solidFill>
                <a:latin typeface="Aptos"/>
              </a:rPr>
              <a:t>actuator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3913631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0252C"/>
                </a:solidFill>
                <a:latin typeface="Aptos"/>
              </a:rPr>
              <a:t>SM-17HS4023 ref: 0.7 [A/phase] → shaft torque [N·m]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234440" y="4416552"/>
            <a:ext cx="0" cy="228600"/>
          </a:xfrm>
          <a:prstGeom prst="line">
            <a:avLst/>
          </a:prstGeom>
          <a:ln w="127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654296"/>
            <a:ext cx="914400" cy="576072"/>
          </a:xfrm>
          <a:prstGeom prst="round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818888"/>
            <a:ext cx="914400" cy="2103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C"/>
                </a:solidFill>
                <a:latin typeface="Apto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4727448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08460"/>
                </a:solidFill>
                <a:latin typeface="Aptos"/>
              </a:rPr>
              <a:t>MECHANISM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4745736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E6770"/>
                </a:solidFill>
                <a:latin typeface="Aptos"/>
              </a:rPr>
              <a:t>body + offset mass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4745736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20252C"/>
                </a:solidFill>
                <a:latin typeface="Aptos"/>
              </a:rPr>
              <a:t>converts internal reaction torque into tilt [deg]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669280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07EA7"/>
                </a:solidFill>
                <a:latin typeface="Aptos"/>
              </a:rPr>
              <a:t>BNO055 → ESP32 → TMC2209 → stepper → mechanism → BNO055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Electronics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The schematic is a wiring reference; the firmware test map is the current authority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gg-unit-sheet1-schematic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629400" cy="30691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35240" y="1417320"/>
            <a:ext cx="13716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783080"/>
            <a:ext cx="3657600" cy="1691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I²C: SDA GPIO 21, SCL GPIO 22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I²C clock: 100 [kHz]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Firmware test map: STEP GPIO 25, DIR GPIO 26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ENN GPIO 27, active 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703320"/>
            <a:ext cx="13716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023360"/>
            <a:ext cx="384048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0252C"/>
                </a:solidFill>
                <a:latin typeface="Aptos"/>
              </a:rPr>
              <a:t>•  12 [V] motor reference; verify installed supply; asset labels 10 [V]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0252C"/>
                </a:solidFill>
                <a:latin typeface="Aptos"/>
              </a:rPr>
              <a:t>•  Logic 3.3 [V] + common ground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0252C"/>
                </a:solidFill>
                <a:latin typeface="Aptos"/>
              </a:rPr>
              <a:t>•  Bulk cap 100 [µF] / ≥25 [V]; EN pull-up 10 [kΩ]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0252C"/>
                </a:solidFill>
                <a:latin typeface="Aptos"/>
              </a:rPr>
              <a:t>•  SM-17HS4023 motor reference: 0.7 [A/phase]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0252C"/>
                </a:solidFill>
                <a:latin typeface="Aptos"/>
              </a:rPr>
              <a:t>•  TMC2209 current limit: not recorded; verify setting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5266944"/>
            <a:ext cx="3840480" cy="6400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5376672"/>
            <a:ext cx="34290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0252C"/>
                </a:solidFill>
                <a:latin typeface="Aptos"/>
              </a:rPr>
              <a:t>AS-BUILT NOTE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0252C"/>
                </a:solidFill>
                <a:latin typeface="Aptos"/>
              </a:rPr>
              <a:t>Schematic pin map unreconciled; test map: STEP 25 / ENN 27.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Codespace setup and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Parallel layers are joined by explicit interfaces, not a serial software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325880"/>
            <a:ext cx="10835640" cy="640080"/>
          </a:xfrm>
          <a:prstGeom prst="roundRect">
            <a:avLst/>
          </a:prstGeom>
          <a:solidFill>
            <a:srgbClr val="23272D"/>
          </a:solidFill>
          <a:ln w="13970">
            <a:solidFill>
              <a:srgbClr val="23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36192"/>
            <a:ext cx="103784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C"/>
                </a:solidFill>
                <a:latin typeface="Aptos"/>
              </a:rPr>
              <a:t>SHARED CONTRACT: newline-delimited JSON commands and telemetry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87168"/>
            <a:ext cx="2331720" cy="12344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51760"/>
            <a:ext cx="2112263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simulator/src/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017520"/>
            <a:ext cx="2075687" cy="6126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physics model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487168"/>
            <a:ext cx="2331720" cy="12344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2651760"/>
            <a:ext cx="2112263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315BA0"/>
                </a:solidFill>
                <a:latin typeface="Aptos"/>
              </a:rPr>
              <a:t>simulator/firmware/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6" y="3017520"/>
            <a:ext cx="2075687" cy="6126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IMU + PWM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state machine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487168"/>
            <a:ext cx="2331720" cy="12344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2651760"/>
            <a:ext cx="2112263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simulator/dashboard/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3017520"/>
            <a:ext cx="2075687" cy="6126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USB bridge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plots + controls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487168"/>
            <a:ext cx="2331720" cy="12344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5128" y="2651760"/>
            <a:ext cx="2112263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simulator/dual_board/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3416" y="3017520"/>
            <a:ext cx="2075687" cy="6126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filter + delay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peer intent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17520" y="3108960"/>
            <a:ext cx="365759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760720" y="3108960"/>
            <a:ext cx="365760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03920" y="3108960"/>
            <a:ext cx="365760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965960" y="4297680"/>
            <a:ext cx="8183879" cy="9601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4590288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WHY THIS 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462272"/>
            <a:ext cx="557784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0252C"/>
                </a:solidFill>
                <a:latin typeface="Aptos"/>
              </a:rPr>
              <a:t>Test physics without hardware.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0252C"/>
                </a:solidFill>
                <a:latin typeface="Aptos"/>
              </a:rPr>
              <a:t>Isolate transport from motion.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0252C"/>
                </a:solidFill>
                <a:latin typeface="Aptos"/>
              </a:rPr>
              <a:t>Trace each run to one command and one log.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715000"/>
            <a:ext cx="101498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Interfaces: physics ↔ experiments; firmware ↔ dashboard; dashboard → peer filter; tests →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Runtime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Two independent USB channels share the same control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583680" cy="3346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35240" y="1417320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WORKING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783080"/>
            <a:ext cx="3703320" cy="187451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Laptop dashboard routes commands by board ID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Each board emits telemetry at about 30 [samples/s]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Serial link: 115200 [bit/s] JSON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USB is the deterministic commissioning transport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977639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OPTIONAL PEER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370832"/>
            <a:ext cx="36576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0252C"/>
                </a:solidFill>
                <a:latin typeface="Aptos"/>
              </a:rPr>
              <a:t>Laptop-mediated: features → filter → 250 [ms] delay → rock intent.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20252C"/>
                </a:solidFill>
                <a:latin typeface="Aptos"/>
              </a:rPr>
              <a:t>Both eggs remain independently addressable.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148072"/>
            <a:ext cx="36576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Board commands remain independently addressable.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Command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Every numeric input maps to a physical or timing quantity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1298448"/>
          <a:ext cx="10835638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553"/>
                <a:gridCol w="2383840"/>
                <a:gridCol w="5851245"/>
              </a:tblGrid>
              <a:tr h="40316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C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73152" marR="73152" marT="36576" marB="36576">
                    <a:solidFill>
                      <a:srgbClr val="2327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C"/>
                          </a:solidFill>
                          <a:latin typeface="Aptos"/>
                        </a:rPr>
                        <a:t>UNIT</a:t>
                      </a:r>
                    </a:p>
                  </a:txBody>
                  <a:tcPr marL="73152" marR="73152" marT="36576" marB="36576">
                    <a:solidFill>
                      <a:srgbClr val="2327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C"/>
                          </a:solidFill>
                          <a:latin typeface="Aptos"/>
                        </a:rPr>
                        <a:t>EFFECT</a:t>
                      </a:r>
                    </a:p>
                  </a:txBody>
                  <a:tcPr marL="73152" marR="73152" marT="36576" marB="36576">
                    <a:solidFill>
                      <a:srgbClr val="23272D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mode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enum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run, smooth run, rock, smooth rock, stable rock (tilt limit)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distance_rev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shaft rev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one-way travel target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amplitude_rev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shaft rev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one-way rock amplitude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rpm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rev/min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peak shaft speed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accel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rev/min/s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speed ramp slope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sign [-]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+1 clockwise, −1 counter-clockwise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cycles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cycles [-]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rock repetitions; 0 means continuous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max_tilt_deg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deg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stable-rock tilt ceiling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</a:tr>
              <a:tr h="40316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intensity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fraction [-]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rock command scale from 0 to 1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</a:tr>
              <a:tr h="40317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target_fraction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fraction [-]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52C"/>
                          </a:solidFill>
                          <a:latin typeface="Aptos"/>
                        </a:rPr>
                        <a:t>peer follower scale; default 0.50</a:t>
                      </a:r>
                    </a:p>
                  </a:txBody>
                  <a:tcPr marL="73152" marR="73152" marT="36576" marB="36576"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5943600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Actions without numeric inputs: tare IMU, stop, stop immediately, record origin, return to origin.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Dashboard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The UI exposes orientation, inertial, thermal, and motor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25880"/>
            <a:ext cx="21031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IMU MEASUREMENTS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37360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0252C"/>
                </a:solidFill>
                <a:latin typeface="Aptos"/>
              </a:rPr>
              <a:t>heading / yaw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737360"/>
            <a:ext cx="2743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E6770"/>
                </a:solidFill>
                <a:latin typeface="Aptos"/>
              </a:rPr>
              <a:t>orientation about vertical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737360"/>
            <a:ext cx="822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[deg]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04288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0252C"/>
                </a:solidFill>
                <a:latin typeface="Aptos"/>
              </a:rPr>
              <a:t>roll, pitch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304288"/>
            <a:ext cx="2743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E6770"/>
                </a:solidFill>
                <a:latin typeface="Aptos"/>
              </a:rPr>
              <a:t>body orientation relative to tare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304288"/>
            <a:ext cx="822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[deg]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871215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0252C"/>
                </a:solidFill>
                <a:latin typeface="Aptos"/>
              </a:rPr>
              <a:t>accel x / y / 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871215"/>
            <a:ext cx="2743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E6770"/>
                </a:solidFill>
                <a:latin typeface="Aptos"/>
              </a:rPr>
              <a:t>specific force, includes gravity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871215"/>
            <a:ext cx="822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[m/s²]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438144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0252C"/>
                </a:solidFill>
                <a:latin typeface="Aptos"/>
              </a:rPr>
              <a:t>gyro x / y / 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438144"/>
            <a:ext cx="2743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E6770"/>
                </a:solidFill>
                <a:latin typeface="Aptos"/>
              </a:rPr>
              <a:t>angular velocity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438144"/>
            <a:ext cx="822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[deg/s]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005072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0252C"/>
                </a:solidFill>
                <a:latin typeface="Aptos"/>
              </a:rPr>
              <a:t>temperature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005072"/>
            <a:ext cx="2743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E6770"/>
                </a:solidFill>
                <a:latin typeface="Aptos"/>
              </a:rPr>
              <a:t>sensor / board thermal reading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4005072"/>
            <a:ext cx="822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[°C]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572000"/>
            <a:ext cx="18288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0252C"/>
                </a:solidFill>
                <a:latin typeface="Aptos"/>
              </a:rPr>
              <a:t>calibration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572000"/>
            <a:ext cx="274320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E6770"/>
                </a:solidFill>
                <a:latin typeface="Aptos"/>
              </a:rPr>
              <a:t>BNO055 status per subsystem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4572000"/>
            <a:ext cx="822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[0–3]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1325880"/>
            <a:ext cx="29260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MOTOR AND TIMING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1737360"/>
            <a:ext cx="1965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rpm / target_rpm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737360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E6770"/>
                </a:solidFill>
                <a:latin typeface="Aptos"/>
              </a:rPr>
              <a:t>shaft speed /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4432" y="1737360"/>
            <a:ext cx="10058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E58400"/>
                </a:solidFill>
                <a:latin typeface="Aptos"/>
              </a:rPr>
              <a:t>[rev/min]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231136"/>
            <a:ext cx="1965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accel_rpm_s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231136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E6770"/>
                </a:solidFill>
                <a:latin typeface="Aptos"/>
              </a:rPr>
              <a:t>speed ramp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4432" y="2231136"/>
            <a:ext cx="10058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E58400"/>
                </a:solidFill>
                <a:latin typeface="Aptos"/>
              </a:rPr>
              <a:t>[rev/min/s]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2724912"/>
            <a:ext cx="1965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position_steps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2724912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E6770"/>
                </a:solidFill>
                <a:latin typeface="Aptos"/>
              </a:rPr>
              <a:t>commanded position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2" y="2724912"/>
            <a:ext cx="10058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E58400"/>
                </a:solidFill>
                <a:latin typeface="Aptos"/>
              </a:rPr>
              <a:t>[steps]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3218688"/>
            <a:ext cx="1965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distance_rev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3218688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E6770"/>
                </a:solidFill>
                <a:latin typeface="Aptos"/>
              </a:rPr>
              <a:t>commanded travel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14432" y="3218688"/>
            <a:ext cx="10058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E58400"/>
                </a:solidFill>
                <a:latin typeface="Aptos"/>
              </a:rPr>
              <a:t>[shaft rev]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3712464"/>
            <a:ext cx="1965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target_steps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3712464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E6770"/>
                </a:solidFill>
                <a:latin typeface="Aptos"/>
              </a:rPr>
              <a:t>finite travel target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14432" y="3712464"/>
            <a:ext cx="10058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E58400"/>
                </a:solidFill>
                <a:latin typeface="Aptos"/>
              </a:rPr>
              <a:t>[steps]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4206240"/>
            <a:ext cx="1965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step_rate_hz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4206240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E6770"/>
                </a:solidFill>
                <a:latin typeface="Aptos"/>
              </a:rPr>
              <a:t>STEP pulse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14432" y="4206240"/>
            <a:ext cx="10058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E58400"/>
                </a:solidFill>
                <a:latin typeface="Aptos"/>
              </a:rPr>
              <a:t>[steps/s]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0" y="4700016"/>
            <a:ext cx="1965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t_ms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4700016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E6770"/>
                </a:solidFill>
                <a:latin typeface="Aptos"/>
              </a:rPr>
              <a:t>sample timestamp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14432" y="4700016"/>
            <a:ext cx="10058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E58400"/>
                </a:solidFill>
                <a:latin typeface="Aptos"/>
              </a:rPr>
              <a:t>[ms]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193792"/>
            <a:ext cx="19659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telemetry_hz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5193792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E6770"/>
                </a:solidFill>
                <a:latin typeface="Aptos"/>
              </a:rPr>
              <a:t>stream rate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14432" y="5193792"/>
            <a:ext cx="10058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E58400"/>
                </a:solidFill>
                <a:latin typeface="Aptos"/>
              </a:rPr>
              <a:t>[samples/s]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687568"/>
            <a:ext cx="101498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Position is generated-step state; IMU angles are body orientation.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Physics vocabulary in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Raw sensor fields become interpretable motion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4983480" cy="13258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1600200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7EA7"/>
                </a:solidFill>
                <a:latin typeface="Aptos"/>
              </a:rPr>
              <a:t>GYROSCOPE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1600200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ω [deg/s]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011680"/>
            <a:ext cx="443484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Angular velocity.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Large magnitude means rapid rotation.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417320"/>
            <a:ext cx="4983480" cy="13258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600200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8460"/>
                </a:solidFill>
                <a:latin typeface="Aptos"/>
              </a:rPr>
              <a:t>ACCELEROMETER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600200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a [m/s²]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011680"/>
            <a:ext cx="443484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Specific force.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A still sensor is near g = 9.81 [m/s²].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91839"/>
            <a:ext cx="4983480" cy="13258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474720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58400"/>
                </a:solidFill>
                <a:latin typeface="Aptos"/>
              </a:rPr>
              <a:t>DYNAMIC ACCEL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3474720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adyn [m/s²]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886200"/>
            <a:ext cx="443484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Motion beyond gravity.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adyn = |‖a‖ − g|.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291839"/>
            <a:ext cx="4983480" cy="13258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3474720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764397"/>
                </a:solidFill>
                <a:latin typeface="Aptos"/>
              </a:rPr>
              <a:t>EULER ANGLES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474720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yaw / roll / pitch [deg]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3886200"/>
            <a:ext cx="443484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Orientation coordinates.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Tare makes them relative to a pose.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486400"/>
            <a:ext cx="100584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07EA7"/>
                </a:solidFill>
                <a:latin typeface="Aptos"/>
              </a:rPr>
              <a:t>Peer detection uses gyro magnitude first, then dynamic acceleration to reject a stationary tilt.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Motion primitives and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The firmware commands shaft travel; the mechanism determines the resulting tilt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2331720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64208"/>
            <a:ext cx="205740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011680"/>
            <a:ext cx="19659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one-way travel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to distance_rev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417320"/>
            <a:ext cx="2331720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1664208"/>
            <a:ext cx="205740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SMOOTH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011680"/>
            <a:ext cx="19659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one-way travel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with braking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2331720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64208"/>
            <a:ext cx="205740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ROCK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11680"/>
            <a:ext cx="19659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alternate direction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for cycles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417320"/>
            <a:ext cx="2331720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664208"/>
            <a:ext cx="205740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TILT-LIMITED ROCK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011680"/>
            <a:ext cx="19659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continuous motion</a:t>
            </a:r>
          </a:p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with over-tilt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246120"/>
            <a:ext cx="1033272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007EA7"/>
                </a:solidFill>
                <a:latin typeface="Aptos"/>
              </a:rPr>
              <a:t>200 [full steps/rev] × 16 [microsteps/full step] = 3200 [commanded steps/rev]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840480"/>
            <a:ext cx="850392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20252C"/>
                </a:solidFill>
                <a:latin typeface="Aptos"/>
              </a:rPr>
              <a:t>step_rate = RPM × 3200 / 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297680"/>
            <a:ext cx="73152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5E6770"/>
                </a:solidFill>
                <a:latin typeface="Aptos"/>
              </a:rPr>
              <a:t>step_rate [steps/s]   RPM [rev/min]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4892040"/>
            <a:ext cx="3063240" cy="749808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6151" y="5038344"/>
            <a:ext cx="2734056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7EA7"/>
                </a:solidFill>
                <a:latin typeface="Aptos"/>
              </a:rPr>
              <a:t>DISTANCE (SHAFT)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1" y="5321807"/>
            <a:ext cx="22402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0252C"/>
                </a:solidFill>
                <a:latin typeface="Aptos"/>
              </a:rPr>
              <a:t>0.05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43153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5E6770"/>
                </a:solidFill>
                <a:latin typeface="Aptos"/>
              </a:rPr>
              <a:t>rev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4892040"/>
            <a:ext cx="3063240" cy="749808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5038344"/>
            <a:ext cx="2734056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15BA0"/>
                </a:solidFill>
                <a:latin typeface="Aptos"/>
              </a:rPr>
              <a:t>COMMANDED TRAVEL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5321807"/>
            <a:ext cx="22402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0252C"/>
                </a:solidFill>
                <a:latin typeface="Aptos"/>
              </a:rPr>
              <a:t>160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43153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5E6770"/>
                </a:solidFill>
                <a:latin typeface="Aptos"/>
              </a:rPr>
              <a:t>steps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892040"/>
            <a:ext cx="3063240" cy="749808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65592" y="5038344"/>
            <a:ext cx="2734056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58400"/>
                </a:solidFill>
                <a:latin typeface="Aptos"/>
              </a:rPr>
              <a:t>COMMANDED SHAFT ANGLE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2" y="5321807"/>
            <a:ext cx="22402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0252C"/>
                </a:solidFill>
                <a:latin typeface="Aptos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543153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5E6770"/>
                </a:solidFill>
                <a:latin typeface="Aptos"/>
              </a:rPr>
              <a:t>deg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Smooth distance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Braking begins before the endpoint so the command does not cut off at cruise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30175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5E6770"/>
                </a:solidFill>
                <a:latin typeface="Aptos"/>
              </a:rPr>
              <a:t>REMAINING STEPS [steps]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737360"/>
            <a:ext cx="5669280" cy="2148840"/>
          </a:xfrm>
          <a:prstGeom prst="roundRect">
            <a:avLst/>
          </a:prstGeom>
          <a:solidFill>
            <a:srgbClr val="23272D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1883664"/>
            <a:ext cx="5266944" cy="18928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F4F6F2"/>
                </a:solidFill>
                <a:latin typeface="Menlo"/>
              </a:rPr>
              <a:t>braking_rpm = sqrt(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F4F6F2"/>
                </a:solidFill>
                <a:latin typeface="Menlo"/>
              </a:rPr>
              <a:t>  remaining_steps × 120 × accel / steps_per_rev)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F4F6F2"/>
                </a:solidFill>
                <a:latin typeface="Menlo"/>
              </a:rPr>
              <a:t>target_rpm = min(cruise_rpm, braking_rpm)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F4F6F2"/>
                </a:solidFill>
                <a:latin typeface="Menlo"/>
              </a:rPr>
              <a:t>step_rate [steps/s] =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F4F6F2"/>
                </a:solidFill>
                <a:latin typeface="Menlo"/>
              </a:rPr>
              <a:t>  target_rpm × steps_per_rev / 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50208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8460"/>
                </a:solidFill>
                <a:latin typeface="Aptos"/>
              </a:rPr>
              <a:t>CONTROL LAW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15968"/>
            <a:ext cx="54406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E6770"/>
                </a:solidFill>
                <a:latin typeface="Aptos"/>
              </a:rPr>
              <a:t>120 = 2 × 60 [s/min]   remaining_steps [steps]   accel [rev/min/s]   steps_per_rev [steps/rev]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417320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8C152D"/>
                </a:solidFill>
                <a:latin typeface="Aptos"/>
              </a:rPr>
              <a:t>NORMAL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828800"/>
            <a:ext cx="1143000" cy="7772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3448" y="1993392"/>
            <a:ext cx="92354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RAMP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6" y="2359152"/>
            <a:ext cx="886968" cy="15544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0252C"/>
                </a:solidFill>
                <a:latin typeface="Aptos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74152" y="2212848"/>
            <a:ext cx="201168" cy="0"/>
          </a:xfrm>
          <a:prstGeom prst="line">
            <a:avLst/>
          </a:prstGeom>
          <a:ln w="1524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21040" y="1828800"/>
            <a:ext cx="1143000" cy="7772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7" y="1993392"/>
            <a:ext cx="92354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CRUISE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359152"/>
            <a:ext cx="886968" cy="15544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0252C"/>
                </a:solidFill>
                <a:latin typeface="Apto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91472" y="2212848"/>
            <a:ext cx="201168" cy="0"/>
          </a:xfrm>
          <a:prstGeom prst="line">
            <a:avLst/>
          </a:prstGeom>
          <a:ln w="1524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38360" y="1828800"/>
            <a:ext cx="1143000" cy="7772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8088" y="1993392"/>
            <a:ext cx="92354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8C152D"/>
                </a:solidFill>
                <a:latin typeface="Aptos"/>
              </a:rPr>
              <a:t>CUT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376" y="2359152"/>
            <a:ext cx="886968" cy="15544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0252C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063240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SMOOTH RUN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3474720"/>
            <a:ext cx="914400" cy="7772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3448" y="3639312"/>
            <a:ext cx="69494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7EA7"/>
                </a:solidFill>
                <a:latin typeface="Aptos"/>
              </a:rPr>
              <a:t>RAMP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1736" y="4005072"/>
            <a:ext cx="658368" cy="15544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/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836408" y="3858768"/>
            <a:ext cx="109728" cy="0"/>
          </a:xfrm>
          <a:prstGeom prst="line">
            <a:avLst/>
          </a:prstGeom>
          <a:ln w="1524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982712" y="3474720"/>
            <a:ext cx="914400" cy="7772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3639312"/>
            <a:ext cx="69494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7EA7"/>
                </a:solidFill>
                <a:latin typeface="Aptos"/>
              </a:rPr>
              <a:t>CRUISE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0728" y="4005072"/>
            <a:ext cx="658368" cy="15544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/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915400" y="3858768"/>
            <a:ext cx="109728" cy="0"/>
          </a:xfrm>
          <a:prstGeom prst="line">
            <a:avLst/>
          </a:prstGeom>
          <a:ln w="1524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061704" y="3474720"/>
            <a:ext cx="914400" cy="7772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71432" y="3639312"/>
            <a:ext cx="69494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8460"/>
                </a:solidFill>
                <a:latin typeface="Aptos"/>
              </a:rPr>
              <a:t>BRAKE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005072"/>
            <a:ext cx="658368" cy="15544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/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994392" y="3858768"/>
            <a:ext cx="109728" cy="0"/>
          </a:xfrm>
          <a:prstGeom prst="line">
            <a:avLst/>
          </a:prstGeom>
          <a:ln w="1524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140696" y="3474720"/>
            <a:ext cx="914400" cy="7772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50424" y="3639312"/>
            <a:ext cx="69494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8460"/>
                </a:solidFill>
                <a:latin typeface="Aptos"/>
              </a:rPr>
              <a:t>SETTLE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68712" y="4005072"/>
            <a:ext cx="658368" cy="15544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4828032"/>
            <a:ext cx="438912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0252C"/>
                </a:solidFill>
                <a:latin typeface="Aptos"/>
              </a:rPr>
              <a:t>The input is a speed ramp; the output is lower endpoint impulse.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Firmware realization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A small state machine turns JSON fields into bounded pulse timing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417320"/>
            <a:ext cx="4069080" cy="612648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600200"/>
            <a:ext cx="12344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7EA7"/>
                </a:solidFill>
                <a:latin typeface="Aptos"/>
              </a:rPr>
              <a:t>JSON PARSER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572768"/>
            <a:ext cx="224028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0252C"/>
                </a:solidFill>
                <a:latin typeface="Aptos"/>
              </a:rPr>
              <a:t>command + numeric fields [units]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" y="2048256"/>
            <a:ext cx="0" cy="219456"/>
          </a:xfrm>
          <a:prstGeom prst="line">
            <a:avLst/>
          </a:prstGeom>
          <a:ln w="127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2286000"/>
            <a:ext cx="4069080" cy="612648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468880"/>
            <a:ext cx="12344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15BA0"/>
                </a:solidFill>
                <a:latin typeface="Aptos"/>
              </a:rPr>
              <a:t>STEPPER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441448"/>
            <a:ext cx="224028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0252C"/>
                </a:solidFill>
                <a:latin typeface="Aptos"/>
              </a:rPr>
              <a:t>mode + position [steps]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51760" y="2916936"/>
            <a:ext cx="0" cy="219456"/>
          </a:xfrm>
          <a:prstGeom prst="line">
            <a:avLst/>
          </a:prstGeom>
          <a:ln w="127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154680"/>
            <a:ext cx="4069080" cy="612648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37560"/>
            <a:ext cx="12344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8C152D"/>
                </a:solidFill>
                <a:latin typeface="Aptos"/>
              </a:rPr>
              <a:t>PWM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310128"/>
            <a:ext cx="224028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0252C"/>
                </a:solidFill>
                <a:latin typeface="Aptos"/>
              </a:rPr>
              <a:t>STEP [steps/s] + DIR + ENN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51760" y="3785616"/>
            <a:ext cx="0" cy="219456"/>
          </a:xfrm>
          <a:prstGeom prst="line">
            <a:avLst/>
          </a:prstGeom>
          <a:ln w="127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" y="4023359"/>
            <a:ext cx="4069080" cy="612648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06240"/>
            <a:ext cx="12344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08460"/>
                </a:solidFill>
                <a:latin typeface="Aptos"/>
              </a:rPr>
              <a:t>TELEMETRY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178807"/>
            <a:ext cx="224028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0252C"/>
                </a:solidFill>
                <a:latin typeface="Aptos"/>
              </a:rPr>
              <a:t>IMU + motor state / 33 [ms]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1417320"/>
            <a:ext cx="6035040" cy="2971800"/>
          </a:xfrm>
          <a:prstGeom prst="roundRect">
            <a:avLst/>
          </a:prstGeom>
          <a:solidFill>
            <a:srgbClr val="23272D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67528" y="1563624"/>
            <a:ext cx="5632703" cy="27157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0">
                <a:solidFill>
                  <a:srgbClr val="F4F6F2"/>
                </a:solidFill>
                <a:latin typeface="Menlo"/>
              </a:rPr>
              <a:t>if mode == "smooth_run":</a:t>
            </a:r>
          </a:p>
          <a:p>
            <a:pPr algn="l">
              <a:spcAft>
                <a:spcPts val="100"/>
              </a:spcAft>
            </a:pPr>
            <a:r>
              <a:rPr sz="1500" b="0">
                <a:solidFill>
                  <a:srgbClr val="F4F6F2"/>
                </a:solidFill>
                <a:latin typeface="Menlo"/>
              </a:rPr>
              <a:t>    remaining = target_steps - abs(position_steps)</a:t>
            </a:r>
          </a:p>
          <a:p>
            <a:pPr algn="l">
              <a:spcAft>
                <a:spcPts val="100"/>
              </a:spcAft>
            </a:pPr>
            <a:r>
              <a:rPr sz="1500" b="0">
                <a:solidFill>
                  <a:srgbClr val="F4F6F2"/>
                </a:solidFill>
                <a:latin typeface="Menlo"/>
              </a:rPr>
              <a:t>    target_rpm = min(cruise_rpm, braking_rpm(remaining))</a:t>
            </a:r>
          </a:p>
          <a:p>
            <a:pPr algn="l">
              <a:spcAft>
                <a:spcPts val="100"/>
              </a:spcAft>
            </a:pPr>
            <a:r>
              <a:rPr sz="1500" b="0">
                <a:solidFill>
                  <a:srgbClr val="F4F6F2"/>
                </a:solidFill>
                <a:latin typeface="Menlo"/>
              </a:rPr>
              <a:t>step_pwm.freq(round(target_rpm * 3200 / 60))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66360" y="4709160"/>
            <a:ext cx="6035040" cy="8686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4956048"/>
            <a:ext cx="1645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Configured ceilings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956048"/>
            <a:ext cx="36576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0252C"/>
                </a:solidFill>
                <a:latin typeface="Aptos"/>
              </a:rPr>
              <a:t>1–240 [rev/min]   1–120 [rev/min/s]   15,000 [steps/s]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Peer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A filtered, delayed, scaled motion intent travels between the two boards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481328"/>
            <a:ext cx="1645920" cy="12344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645920"/>
            <a:ext cx="14264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IMU SAMPLE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011680"/>
            <a:ext cx="1389888" cy="6126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gyro [deg/s]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accel [m/s²]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481328"/>
            <a:ext cx="1645920" cy="12344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52928" y="1645920"/>
            <a:ext cx="14264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315BA0"/>
                </a:solidFill>
                <a:latin typeface="Aptos"/>
              </a:rP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2011680"/>
            <a:ext cx="1389888" cy="6126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‖gyro‖ [deg/s]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adyn [m/s²]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1481328"/>
            <a:ext cx="1645920" cy="12344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1645920"/>
            <a:ext cx="14264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5" y="2011680"/>
            <a:ext cx="1389888" cy="6126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0.70 gyro +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0.30 accel [-]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481328"/>
            <a:ext cx="1645920" cy="12344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0608" y="1645920"/>
            <a:ext cx="14264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011680"/>
            <a:ext cx="1389888" cy="6126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EMA τ = 0.18 [s]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hysteresis [-]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1481328"/>
            <a:ext cx="1645920" cy="12344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448" y="1645920"/>
            <a:ext cx="142646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FOLLOWER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2011680"/>
            <a:ext cx="1389888" cy="6126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250 [ms] delay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0.50 scale [-]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86000" y="2103120"/>
            <a:ext cx="411480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434840" y="2103120"/>
            <a:ext cx="411480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583680" y="2103120"/>
            <a:ext cx="411480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732520" y="2103120"/>
            <a:ext cx="411480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4400" y="3246120"/>
            <a:ext cx="5577840" cy="1965960"/>
          </a:xfrm>
          <a:prstGeom prst="roundRect">
            <a:avLst/>
          </a:prstGeom>
          <a:solidFill>
            <a:srgbClr val="23272D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3392424"/>
            <a:ext cx="5175503" cy="1709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F4F6F2"/>
                </a:solidFill>
                <a:latin typeface="Menlo"/>
              </a:rPr>
              <a:t>gyro_score = clamp(|gyro| / 90 [deg/s], 0, 1)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F4F6F2"/>
                </a:solidFill>
                <a:latin typeface="Menlo"/>
              </a:rPr>
              <a:t>accel_score = clamp(adyn / 2.5 [m/s²], 0, 1)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F4F6F2"/>
                </a:solidFill>
                <a:latin typeface="Menlo"/>
              </a:rPr>
              <a:t>I_source = 0.70 × gyro_score + 0.30 × accel_score [-]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F4F6F2"/>
                </a:solidFill>
                <a:latin typeface="Menlo"/>
              </a:rPr>
              <a:t>I_eff = clamp(3.0 × I_source, 0, 1) × target_fraction [-]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F4F6F2"/>
                </a:solidFill>
                <a:latin typeface="Menlo"/>
              </a:rPr>
              <a:t>rpm = 60 × I_eff [rev/min]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F4F6F2"/>
                </a:solidFill>
                <a:latin typeface="Menlo"/>
              </a:rPr>
              <a:t>amplitude = 0.25 × I_eff [shaft rev]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F4F6F2"/>
                </a:solidFill>
                <a:latin typeface="Menlo"/>
              </a:rPr>
              <a:t>accel = min(30, 30 × I_eff) [rev/min/s]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60" y="3246120"/>
            <a:ext cx="4251960" cy="17830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3547872"/>
            <a:ext cx="16459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SAFETY GATES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950208"/>
            <a:ext cx="3566160" cy="7680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0252C"/>
                </a:solidFill>
                <a:latin typeface="Aptos"/>
              </a:rPr>
              <a:t>start ≥ 0.18 [-]   stop ≤ 0.10 [-]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0252C"/>
                </a:solidFill>
                <a:latin typeface="Aptos"/>
              </a:rPr>
              <a:t>stale timeout = 800 [ms]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0252C"/>
                </a:solidFill>
                <a:latin typeface="Aptos"/>
              </a:rPr>
              <a:t>Peer stale/stop detection exists; motor stop delivery is not yet validated.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440680"/>
            <a:ext cx="1014984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Output: I_eff [-] maps to rock command with rpm [rev/min], amplitude [shaft rev], accel [rev/min/s], cycles [-].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Measured command-path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Physical log from unloaded-board USB commissioning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ysical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583680" cy="335401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35240" y="1417320"/>
            <a:ext cx="1828800" cy="9144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1563624"/>
            <a:ext cx="1499616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07EA7"/>
                </a:solidFill>
                <a:latin typeface="Aptos"/>
              </a:rPr>
              <a:t>GENERATED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1847088"/>
            <a:ext cx="100584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0252C"/>
                </a:solidFill>
                <a:latin typeface="Aptos"/>
              </a:rPr>
              <a:t>160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95681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5E6770"/>
                </a:solidFill>
                <a:latin typeface="Aptos"/>
              </a:rPr>
              <a:t>steps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1417320"/>
            <a:ext cx="1828800" cy="9144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2952" y="1563624"/>
            <a:ext cx="1499616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58400"/>
                </a:solidFill>
                <a:latin typeface="Aptos"/>
              </a:rPr>
              <a:t>USB CMD→IDLE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2952" y="1847088"/>
            <a:ext cx="100584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0252C"/>
                </a:solidFill>
                <a:latin typeface="Aptos"/>
              </a:rPr>
              <a:t>110–113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195681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5E6770"/>
                </a:solidFill>
                <a:latin typeface="Aptos"/>
              </a:rPr>
              <a:t>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560320"/>
            <a:ext cx="1828800" cy="9144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9831" y="2706624"/>
            <a:ext cx="1499616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15BA0"/>
                </a:solidFill>
                <a:latin typeface="Aptos"/>
              </a:rPr>
              <a:t>GENERATED CIRCLE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2990087"/>
            <a:ext cx="100584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0252C"/>
                </a:solidFill>
                <a:latin typeface="Aptos"/>
              </a:rPr>
              <a:t>±3200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099815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5E6770"/>
                </a:solidFill>
                <a:latin typeface="Aptos"/>
              </a:rPr>
              <a:t>steps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2560320"/>
            <a:ext cx="1828800" cy="9144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2952" y="2706624"/>
            <a:ext cx="1499616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SENSOR TEMP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2990087"/>
            <a:ext cx="100584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20252C"/>
                </a:solidFill>
                <a:latin typeface="Aptos"/>
              </a:rPr>
              <a:t>31–32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3099815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5E6770"/>
                </a:solidFill>
                <a:latin typeface="Aptos"/>
              </a:rPr>
              <a:t>°C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983480"/>
            <a:ext cx="10515600" cy="82296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248656"/>
            <a:ext cx="1417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KEY READOUT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202936"/>
            <a:ext cx="818387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4 [rev/min] · 0.05 [shaft rev] → software auto-stop at 160 [steps] → pitch peak 3.06 [deg] · gyro peak 13.73 [deg/s]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053328"/>
            <a:ext cx="10287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07EA7"/>
                </a:solidFill>
                <a:latin typeface="Aptos"/>
              </a:rPr>
              <a:t>Command path observed: parse → auto-stop → reversal → telemetry → 0.110 [s] stop response.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What the current evidence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Separate generated motion, sensed body motion, and physical 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25880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OBSERVED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755648"/>
            <a:ext cx="3291840" cy="2331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Generated position [steps] and travel [shaft rev]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BNO055 orientation [deg], gyro [deg/s], accel [m/s²]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USB stop response [ms]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Unloaded-board temperature [°C]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325880"/>
            <a:ext cx="2194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INSTRUMENT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755648"/>
            <a:ext cx="3429000" cy="2331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Physical shaft angle [deg] with marker or encoder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Motor phase current [A] and VMOT [V]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Loaded tilt amplitude [deg] and natural frequency [Hz]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Repeatability [%] and missed-step count [steps]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325880"/>
            <a:ext cx="21945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PRODUCT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55648"/>
            <a:ext cx="3063240" cy="2331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Can the body hold a target tilt [deg]?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What load [g] and torque [N·m] remain stable?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What temperature rise [°C] occurs over duty time [s]?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0252C"/>
                </a:solidFill>
                <a:latin typeface="Aptos"/>
              </a:rPr>
              <a:t>•  Does peer delay [ms] feel intentional?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56048"/>
            <a:ext cx="10287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07EA7"/>
                </a:solidFill>
                <a:latin typeface="Aptos"/>
              </a:rPr>
              <a:t>Key gap: commanded shaft motion [steps] versus verified physical shaft motion [deg].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13248"/>
            <a:ext cx="1028700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8C152D"/>
                </a:solidFill>
                <a:latin typeface="Aptos"/>
              </a:rPr>
              <a:t>Validated: unloaded USB command path. Not yet validated: loaded tilt, physical shaft angle, torque, power, final gear ratio, or wireless reliability.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Next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Close the command-to-motion gap with an instrumented loaded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572768"/>
            <a:ext cx="2331720" cy="196596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810512"/>
            <a:ext cx="41148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7EA7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1810512"/>
            <a:ext cx="1417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7EA7"/>
                </a:solidFill>
                <a:latin typeface="Aptos"/>
              </a:rPr>
              <a:t>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04872"/>
            <a:ext cx="187451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0252C"/>
                </a:solidFill>
                <a:latin typeface="Aptos"/>
              </a:rPr>
              <a:t>VMOT [V]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0252C"/>
                </a:solidFill>
                <a:latin typeface="Aptos"/>
              </a:rPr>
              <a:t>logic [V]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81528" y="2542032"/>
            <a:ext cx="329184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20440" y="1572768"/>
            <a:ext cx="2331720" cy="196596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1810512"/>
            <a:ext cx="41148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15BA0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810512"/>
            <a:ext cx="1417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15BA0"/>
                </a:solidFill>
                <a:latin typeface="Aptos"/>
              </a:rPr>
              <a:t>SHAFT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404872"/>
            <a:ext cx="187451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0252C"/>
                </a:solidFill>
                <a:latin typeface="Aptos"/>
              </a:rPr>
              <a:t>marker / encoder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0252C"/>
                </a:solidFill>
                <a:latin typeface="Aptos"/>
              </a:rPr>
              <a:t>angle [deg]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16168" y="2542032"/>
            <a:ext cx="329184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55080" y="1572768"/>
            <a:ext cx="2331720" cy="196596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810512"/>
            <a:ext cx="41148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58400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810512"/>
            <a:ext cx="1417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58400"/>
                </a:solidFill>
                <a:latin typeface="Aptos"/>
              </a:rPr>
              <a:t>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404872"/>
            <a:ext cx="187451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0252C"/>
                </a:solidFill>
                <a:latin typeface="Aptos"/>
              </a:rPr>
              <a:t>mass [g]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0252C"/>
                </a:solidFill>
                <a:latin typeface="Aptos"/>
              </a:rPr>
              <a:t>CoM offset [mm]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50808" y="2542032"/>
            <a:ext cx="329184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89720" y="1572768"/>
            <a:ext cx="2331720" cy="196596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810512"/>
            <a:ext cx="41148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08460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1810512"/>
            <a:ext cx="1417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8460"/>
                </a:solidFill>
                <a:latin typeface="Aptos"/>
              </a:rPr>
              <a:t>CORRELATE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404872"/>
            <a:ext cx="187451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0252C"/>
                </a:solidFill>
                <a:latin typeface="Aptos"/>
              </a:rPr>
              <a:t>tilt [deg]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0252C"/>
                </a:solidFill>
                <a:latin typeface="Aptos"/>
              </a:rPr>
              <a:t>current [A]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20252C"/>
                </a:solidFill>
                <a:latin typeface="Aptos"/>
              </a:rPr>
              <a:t>temperature [°C]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251960"/>
            <a:ext cx="19202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Acceptance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4224528"/>
            <a:ext cx="818387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0252C"/>
                </a:solidFill>
                <a:latin typeface="Aptos"/>
              </a:rPr>
              <a:t>commanded steps [steps] ↔ measured shaft angle [deg] ↔ body response [deg/s, m/s²]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92040"/>
            <a:ext cx="978408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Repeat at conservative speed: 3–10 [rev/min]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Sweep acceleration: 5–30 [rev/min/s]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•  Record current [A], temperature [°C], tilt [deg], missed steps [steps] over time [s]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Wireless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USB works today; Wi-Fi is an experimental HTTP API with unfinished command parity and heartbeat servicing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25880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CURRENT 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783080"/>
            <a:ext cx="2148840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947672"/>
            <a:ext cx="192938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USB SERIAL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313432"/>
            <a:ext cx="1892808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laptop ↔ ESP32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115200 [bit/s]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783080"/>
            <a:ext cx="2148840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1947672"/>
            <a:ext cx="192938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315BA0"/>
                </a:solidFill>
                <a:latin typeface="Aptos"/>
              </a:rPr>
              <a:t>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2313432"/>
            <a:ext cx="1892808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commands + telemetry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newline delimited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783080"/>
            <a:ext cx="2148840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1947672"/>
            <a:ext cx="192938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2313432"/>
            <a:ext cx="1892808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controls + plots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Aptos"/>
              </a:rPr>
              <a:t>about 30 [samples/s]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26080" y="2359152"/>
            <a:ext cx="347472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32120" y="2359152"/>
            <a:ext cx="347472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3520440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WIRELESS PATH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77639"/>
            <a:ext cx="2148840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142231"/>
            <a:ext cx="192938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ACCESS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507992"/>
            <a:ext cx="1892808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2.4 [GHz] Wi-Fi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3977639"/>
            <a:ext cx="2148840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7288" y="4142231"/>
            <a:ext cx="192938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315BA0"/>
                </a:solidFill>
                <a:latin typeface="Aptos"/>
              </a:rPr>
              <a:t>ESP32 HTTP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5576" y="4507992"/>
            <a:ext cx="1892808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GET /api/state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POST /api/command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977639"/>
            <a:ext cx="2148840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53328" y="4142231"/>
            <a:ext cx="192938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HEARTBEAT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71616" y="4507992"/>
            <a:ext cx="1892808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750 [ms] watchdog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49640" y="3977639"/>
            <a:ext cx="2148840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9367" y="4142231"/>
            <a:ext cx="192938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PEER RELAY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77656" y="4507992"/>
            <a:ext cx="1892808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motion packet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250 [ms] delay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26080" y="4553712"/>
            <a:ext cx="347472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32120" y="4553712"/>
            <a:ext cx="347472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138160" y="4553712"/>
            <a:ext cx="347472" cy="0"/>
          </a:xfrm>
          <a:prstGeom prst="line">
            <a:avLst/>
          </a:prstGeom>
          <a:ln w="1905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22960" y="5486400"/>
            <a:ext cx="10469880" cy="6858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5715000"/>
            <a:ext cx="1001268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E58400"/>
                </a:solidFill>
                <a:latin typeface="Aptos"/>
              </a:rPr>
              <a:t>STATUS: USB working · Wi-Fi experimental · command parity + heartbeat pending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Individual board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First establish one complete board contract; then relay a motion intent to its peer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25880"/>
            <a:ext cx="3108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INDIVIDUAL BOARD CONTRACT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783080"/>
            <a:ext cx="1234440" cy="11887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947672"/>
            <a:ext cx="101498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BNO055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313432"/>
            <a:ext cx="978408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>I²C SDA 21 / SCL 22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>100 [kHz]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93391" y="2377440"/>
            <a:ext cx="173737" cy="0"/>
          </a:xfrm>
          <a:prstGeom prst="line">
            <a:avLst/>
          </a:prstGeom>
          <a:ln w="1524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212848" y="1783080"/>
            <a:ext cx="1234440" cy="11887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22576" y="1947672"/>
            <a:ext cx="101498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315BA0"/>
                </a:solidFill>
                <a:latin typeface="Aptos"/>
              </a:rPr>
              <a:t>ESP32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864" y="2313432"/>
            <a:ext cx="978408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>parses commands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>reads sensor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74720" y="2377440"/>
            <a:ext cx="173736" cy="0"/>
          </a:xfrm>
          <a:prstGeom prst="line">
            <a:avLst/>
          </a:prstGeom>
          <a:ln w="1524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694176" y="1783080"/>
            <a:ext cx="1234440" cy="11887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03904" y="1947672"/>
            <a:ext cx="101498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8C152D"/>
                </a:solidFill>
                <a:latin typeface="Aptos"/>
              </a:rPr>
              <a:t>TMC2209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2313432"/>
            <a:ext cx="978408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>STEP 25 / DIR 26 / ENN 27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>VMOT 12 [V]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56048" y="2377440"/>
            <a:ext cx="173736" cy="0"/>
          </a:xfrm>
          <a:prstGeom prst="line">
            <a:avLst/>
          </a:prstGeom>
          <a:ln w="1524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75504" y="1783080"/>
            <a:ext cx="1234440" cy="11887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85232" y="1947672"/>
            <a:ext cx="101498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STEPPER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313432"/>
            <a:ext cx="978408" cy="5669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>phase current 0.7 [A]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>shaft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520440"/>
            <a:ext cx="3383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BOARD-TO-BOARD INTENT PATH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77639"/>
            <a:ext cx="1874519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142231"/>
            <a:ext cx="1655063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EGG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4507992"/>
            <a:ext cx="1618487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telemetry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features [deg/s, m/s²]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3977639"/>
            <a:ext cx="1874519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27248" y="4142231"/>
            <a:ext cx="1655063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LAPTOP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45536" y="4507992"/>
            <a:ext cx="1618487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filter + sequence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JSON packet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0" y="3977639"/>
            <a:ext cx="1874519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13248" y="4142231"/>
            <a:ext cx="1655063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DELAY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1536" y="4507992"/>
            <a:ext cx="1618487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250 [ms]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scale 0.50 [-]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3977639"/>
            <a:ext cx="1874519" cy="11430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9248" y="4142231"/>
            <a:ext cx="1655063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EGG 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7536" y="4507992"/>
            <a:ext cx="1618487" cy="521207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rock intent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0252C"/>
                </a:solidFill>
                <a:latin typeface="Aptos"/>
              </a:rPr>
              <a:t>rpm [rev/min]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651760" y="4553712"/>
            <a:ext cx="347472" cy="0"/>
          </a:xfrm>
          <a:prstGeom prst="line">
            <a:avLst/>
          </a:prstGeom>
          <a:ln w="1778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937760" y="4553712"/>
            <a:ext cx="347472" cy="0"/>
          </a:xfrm>
          <a:prstGeom prst="line">
            <a:avLst/>
          </a:prstGeom>
          <a:ln w="1778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23760" y="4553712"/>
            <a:ext cx="347472" cy="0"/>
          </a:xfrm>
          <a:prstGeom prst="line">
            <a:avLst/>
          </a:prstGeom>
          <a:ln w="1778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68680" y="5687568"/>
            <a:ext cx="102412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STATUS: USB peer path is laptop-mediated; direct board-to-board Wi-Fi is next.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Making the wobble feel cute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Precise control turns mechanical parameters into a motion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25880"/>
            <a:ext cx="4754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CUTE IS A CONTROLLED GESTURE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72768"/>
            <a:ext cx="5029200" cy="1645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E6770"/>
                </a:solidFill>
                <a:latin typeface="Aptos"/>
              </a:rPr>
              <a:t>parameter → command → measured response → perceived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737360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amplitude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737360"/>
            <a:ext cx="16916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E6770"/>
                </a:solidFill>
                <a:latin typeface="Aptos"/>
              </a:rPr>
              <a:t>size [shaft rev]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37360"/>
            <a:ext cx="1645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small = contained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304288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15BA0"/>
                </a:solidFill>
                <a:latin typeface="Aptos"/>
              </a:rPr>
              <a:t>rpm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304288"/>
            <a:ext cx="16916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E6770"/>
                </a:solidFill>
                <a:latin typeface="Aptos"/>
              </a:rPr>
              <a:t>tempo [rev/min]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304288"/>
            <a:ext cx="1645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low = gentle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871215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accel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871215"/>
            <a:ext cx="16916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E6770"/>
                </a:solidFill>
                <a:latin typeface="Aptos"/>
              </a:rPr>
              <a:t>softness [rev/min/s]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871215"/>
            <a:ext cx="1645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slow ramp = 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438144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cycles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438144"/>
            <a:ext cx="16916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E6770"/>
                </a:solidFill>
                <a:latin typeface="Aptos"/>
              </a:rPr>
              <a:t>persistence [count]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438144"/>
            <a:ext cx="1645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brief = expressive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005072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delay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005072"/>
            <a:ext cx="16916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E6770"/>
                </a:solidFill>
                <a:latin typeface="Aptos"/>
              </a:rPr>
              <a:t>social timing [ms]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005072"/>
            <a:ext cx="1645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late reply = character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572000"/>
            <a:ext cx="1417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CC4070"/>
                </a:solidFill>
                <a:latin typeface="Aptos"/>
              </a:rPr>
              <a:t>intensity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4572000"/>
            <a:ext cx="169164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E6770"/>
                </a:solidFill>
                <a:latin typeface="Aptos"/>
              </a:rPr>
              <a:t>command scale [-]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572000"/>
            <a:ext cx="16459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reduced = tender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074920"/>
            <a:ext cx="507492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7EA7"/>
                </a:solidFill>
                <a:latin typeface="Aptos"/>
              </a:rPr>
              <a:t>θbody(t) = A · E(t) · sin(2π fw t + φ)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422392"/>
            <a:ext cx="48463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E6770"/>
                </a:solidFill>
                <a:latin typeface="Aptos"/>
              </a:rPr>
              <a:t>A [deg]   fw [Hz]   E [-]   t [s]   φ [rad]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715000"/>
            <a:ext cx="50749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0252C"/>
                </a:solidFill>
                <a:latin typeface="Aptos"/>
              </a:rPr>
              <a:t>rpm [rev/min] sets motor tempo; fw [Hz] is measured body response.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325880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AUTHORING 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1828800"/>
            <a:ext cx="1325880" cy="12344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1993392"/>
            <a:ext cx="110642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7EA7"/>
                </a:solidFill>
                <a:latin typeface="Aptos"/>
              </a:rPr>
              <a:t>ANTICIPATE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2359152"/>
            <a:ext cx="1069848" cy="6126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0252C"/>
                </a:solidFill>
                <a:latin typeface="Aptos"/>
              </a:rPr>
              <a:t>low speed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0252C"/>
                </a:solidFill>
                <a:latin typeface="Aptos"/>
              </a:rPr>
              <a:t>small ramp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79" y="1828800"/>
            <a:ext cx="1325880" cy="12344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7" y="1993392"/>
            <a:ext cx="110642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58400"/>
                </a:solidFill>
                <a:latin typeface="Aptos"/>
              </a:rPr>
              <a:t>WOBBLE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3296" y="2359152"/>
            <a:ext cx="1069848" cy="6126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0252C"/>
                </a:solidFill>
                <a:latin typeface="Aptos"/>
              </a:rPr>
              <a:t>bounded tilt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0252C"/>
                </a:solidFill>
                <a:latin typeface="Aptos"/>
              </a:rPr>
              <a:t>measured [deg]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1828800"/>
            <a:ext cx="1325880" cy="12344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19488" y="1993392"/>
            <a:ext cx="110642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8460"/>
                </a:solidFill>
                <a:latin typeface="Aptos"/>
              </a:rPr>
              <a:t>SETTLE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37776" y="2359152"/>
            <a:ext cx="1069848" cy="6126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0252C"/>
                </a:solidFill>
                <a:latin typeface="Aptos"/>
              </a:rPr>
              <a:t>smooth brake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20252C"/>
                </a:solidFill>
                <a:latin typeface="Aptos"/>
              </a:rPr>
              <a:t>short dwell [s]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754112" y="2441448"/>
            <a:ext cx="128015" cy="0"/>
          </a:xfrm>
          <a:prstGeom prst="line">
            <a:avLst/>
          </a:prstGeom>
          <a:ln w="1524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308592" y="2441448"/>
            <a:ext cx="128016" cy="0"/>
          </a:xfrm>
          <a:prstGeom prst="line">
            <a:avLst/>
          </a:prstGeom>
          <a:ln w="1524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400800" y="3703320"/>
            <a:ext cx="4389120" cy="17830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4005072"/>
            <a:ext cx="27432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8C152D"/>
                </a:solidFill>
                <a:latin typeface="Aptos"/>
              </a:rPr>
              <a:t>ART / USER EXPERIENCE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4370832"/>
            <a:ext cx="370332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0252C"/>
                </a:solidFill>
                <a:latin typeface="Aptos"/>
              </a:rPr>
              <a:t>The dashboard authors the gesture.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20252C"/>
                </a:solidFill>
                <a:latin typeface="Aptos"/>
              </a:rPr>
              <a:t>The egg is the visible character.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20252C"/>
                </a:solidFill>
                <a:latin typeface="Aptos"/>
              </a:rPr>
              <a:t>A second egg makes it social.</a:t>
            </a:r>
          </a:p>
          <a:p>
            <a:pPr algn="l">
              <a:spcAft>
                <a:spcPts val="200"/>
              </a:spcAft>
            </a:pPr>
            <a:r>
              <a:rPr sz="1350" b="1">
                <a:solidFill>
                  <a:srgbClr val="20252C"/>
                </a:solidFill>
                <a:latin typeface="Aptos"/>
              </a:rPr>
              <a:t>Hypothesis until measured.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715000"/>
            <a:ext cx="43891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8C152D"/>
                </a:solidFill>
                <a:latin typeface="Aptos"/>
              </a:rPr>
              <a:t>Design direction: use variation and delay to make control feel alive.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A first serious hardware build grew out of a software and installation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371600"/>
            <a:ext cx="4983480" cy="40690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719072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764397"/>
                </a:solidFill>
                <a:latin typeface="Aptos"/>
              </a:rPr>
              <a:t>STARTING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148840"/>
            <a:ext cx="429768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0252C"/>
                </a:solidFill>
                <a:latin typeface="Aptos"/>
              </a:rPr>
              <a:t>Most of my background is in software, digital and user-experience design, and art installations.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29000"/>
            <a:ext cx="429768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This project moved that practice into sensing, wiring, motion, and physical feedback.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371600"/>
            <a:ext cx="4983480" cy="406908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719072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THE HARDWARE LESSON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48840"/>
            <a:ext cx="425196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20252C"/>
                </a:solidFill>
                <a:latin typeface="Aptos"/>
              </a:rPr>
              <a:t>This was the first time I soldered since my first year of college.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063240"/>
            <a:ext cx="429768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0252C"/>
                </a:solidFill>
                <a:latin typeface="Aptos"/>
              </a:rPr>
              <a:t>I found the work incredibly rewarding and meditative, and I feel very blessed to have had the best mentors.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70832"/>
            <a:ext cx="429768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07EA7"/>
                </a:solidFill>
                <a:latin typeface="Aptos"/>
              </a:rPr>
              <a:t>Thank you to the lab for providing tools so generously. I definitely consumed a lot of 3D-printing resources.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06440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8C152D"/>
                </a:solidFill>
                <a:latin typeface="Aptos"/>
              </a:rPr>
              <a:t>The technical result is a working prototype. The personal result is a wider practice.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Photos and meals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Space for process documentation and the shared studio life around the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1417320"/>
            <a:ext cx="5212080" cy="1874519"/>
          </a:xfrm>
          <a:prstGeom prst="rect">
            <a:avLst/>
          </a:prstGeom>
          <a:solidFill>
            <a:srgbClr val="FFFFFC"/>
          </a:solidFill>
          <a:ln w="13970">
            <a:solidFill>
              <a:srgbClr val="5E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217420"/>
            <a:ext cx="475488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5E6770"/>
                </a:solidFill>
                <a:latin typeface="Aptos"/>
              </a:rPr>
              <a:t>FIRST SOLDERING / PROCESS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212080" cy="1874519"/>
          </a:xfrm>
          <a:prstGeom prst="rect">
            <a:avLst/>
          </a:prstGeom>
          <a:solidFill>
            <a:srgbClr val="FFFFFC"/>
          </a:solidFill>
          <a:ln w="13970">
            <a:solidFill>
              <a:srgbClr val="5E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17420"/>
            <a:ext cx="475488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5E6770"/>
                </a:solidFill>
                <a:latin typeface="Aptos"/>
              </a:rPr>
              <a:t>WIRING + DEBUGGING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03320"/>
            <a:ext cx="5212080" cy="1874519"/>
          </a:xfrm>
          <a:prstGeom prst="rect">
            <a:avLst/>
          </a:prstGeom>
          <a:solidFill>
            <a:srgbClr val="FFFFFC"/>
          </a:solidFill>
          <a:ln w="13970">
            <a:solidFill>
              <a:srgbClr val="5E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503419"/>
            <a:ext cx="475488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5E6770"/>
                </a:solidFill>
                <a:latin typeface="Aptos"/>
              </a:rPr>
              <a:t>3D PRINT ITERATIONS / RESOURCES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5212080" cy="1874519"/>
          </a:xfrm>
          <a:prstGeom prst="rect">
            <a:avLst/>
          </a:prstGeom>
          <a:solidFill>
            <a:srgbClr val="FFFFFC"/>
          </a:solidFill>
          <a:ln w="13970">
            <a:solidFill>
              <a:srgbClr val="5E6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503419"/>
            <a:ext cx="475488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5E6770"/>
                </a:solidFill>
                <a:latin typeface="Aptos"/>
              </a:rPr>
              <a:t>MEALS / MENTORSHIP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Source map for the deck, video, and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417320"/>
            <a:ext cx="10515600" cy="443484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755648"/>
            <a:ext cx="1097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7EA7"/>
                </a:solidFill>
                <a:latin typeface="Aptos"/>
              </a:rPr>
              <a:t>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103120"/>
            <a:ext cx="9875520" cy="868680"/>
          </a:xfrm>
          <a:prstGeom prst="roundRect">
            <a:avLst/>
          </a:prstGeom>
          <a:solidFill>
            <a:srgbClr val="23272D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4168" y="2249424"/>
            <a:ext cx="9473184" cy="612647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F4F6F2"/>
                </a:solidFill>
                <a:latin typeface="Menlo"/>
              </a:rPr>
              <a:t>python3 simulator/docs/build_google_slides_deck.py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F4F6F2"/>
                </a:solidFill>
                <a:latin typeface="Menlo"/>
              </a:rPr>
              <a:t># output: simulator/docs/WOBBLE_MECHANISMS_TECHNICAL_DECK_post_critique.pptx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37560"/>
            <a:ext cx="23774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PRIMARY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03320"/>
            <a:ext cx="5257800" cy="1783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20252C"/>
                </a:solidFill>
                <a:latin typeface="Menlo"/>
              </a:rPr>
              <a:t>simulator/docs/TECHNICAL_PRESENTATION.md</a:t>
            </a:r>
          </a:p>
          <a:p>
            <a:pPr algn="l">
              <a:spcAft>
                <a:spcPts val="0"/>
              </a:spcAft>
            </a:pPr>
            <a:r>
              <a:rPr sz="1270" b="0">
                <a:solidFill>
                  <a:srgbClr val="20252C"/>
                </a:solidFill>
                <a:latin typeface="Menlo"/>
              </a:rPr>
              <a:t>simulator/docs/PHYSICS_TALKING_OUTLINE.md</a:t>
            </a:r>
          </a:p>
          <a:p>
            <a:pPr algn="l">
              <a:spcAft>
                <a:spcPts val="0"/>
              </a:spcAft>
            </a:pPr>
            <a:r>
              <a:rPr sz="1270" b="0">
                <a:solidFill>
                  <a:srgbClr val="20252C"/>
                </a:solidFill>
                <a:latin typeface="Menlo"/>
              </a:rPr>
              <a:t>simulator/docs/CAD_IMPORT_GUIDE.md</a:t>
            </a:r>
          </a:p>
          <a:p>
            <a:pPr algn="l">
              <a:spcAft>
                <a:spcPts val="0"/>
              </a:spcAft>
            </a:pPr>
            <a:r>
              <a:rPr sz="1270" b="0">
                <a:solidFill>
                  <a:srgbClr val="20252C"/>
                </a:solidFill>
                <a:latin typeface="Menlo"/>
              </a:rPr>
              <a:t>simulator/src/egg_model.py</a:t>
            </a:r>
          </a:p>
          <a:p>
            <a:pPr algn="l">
              <a:spcAft>
                <a:spcPts val="0"/>
              </a:spcAft>
            </a:pPr>
            <a:r>
              <a:rPr sz="1270" b="0">
                <a:solidFill>
                  <a:srgbClr val="20252C"/>
                </a:solidFill>
                <a:latin typeface="Menlo"/>
              </a:rPr>
              <a:t>simulator/wired_tests/physical_test_log.md</a:t>
            </a:r>
          </a:p>
          <a:p>
            <a:pPr algn="l">
              <a:spcAft>
                <a:spcPts val="0"/>
              </a:spcAft>
            </a:pPr>
            <a:r>
              <a:rPr sz="1270" b="0">
                <a:solidFill>
                  <a:srgbClr val="20252C"/>
                </a:solidFill>
                <a:latin typeface="Menlo"/>
              </a:rPr>
              <a:t>simulator/firmware/main.py</a:t>
            </a:r>
          </a:p>
          <a:p>
            <a:pPr algn="l">
              <a:spcAft>
                <a:spcPts val="0"/>
              </a:spcAft>
            </a:pPr>
            <a:r>
              <a:rPr sz="1270" b="0">
                <a:solidFill>
                  <a:srgbClr val="20252C"/>
                </a:solidFill>
                <a:latin typeface="Menlo"/>
              </a:rPr>
              <a:t>simulator/dashboard/index.html</a:t>
            </a:r>
          </a:p>
          <a:p>
            <a:pPr algn="l">
              <a:spcAft>
                <a:spcPts val="0"/>
              </a:spcAft>
            </a:pPr>
            <a:r>
              <a:rPr sz="1270" b="0">
                <a:solidFill>
                  <a:srgbClr val="20252C"/>
                </a:solidFill>
                <a:latin typeface="Menlo"/>
              </a:rPr>
              <a:t>simulator/dual_board/ripple_logic.py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37560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RASTER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703320"/>
            <a:ext cx="4480560" cy="1051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Menlo"/>
              </a:rPr>
              <a:t>simulator/docs/assets/png/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Menlo"/>
              </a:rPr>
              <a:t>system-architecture.png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Menlo"/>
              </a:rPr>
              <a:t>physical-validation.png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20252C"/>
                </a:solidFill>
                <a:latin typeface="Menlo"/>
              </a:rPr>
              <a:t>egg-unit-sheet1-schematic-focus.png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983480"/>
            <a:ext cx="20116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08460"/>
                </a:solidFill>
                <a:latin typeface="Aptos"/>
              </a:rPr>
              <a:t>COMPANION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285232"/>
            <a:ext cx="44805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20252C"/>
                </a:solidFill>
                <a:latin typeface="Menlo"/>
              </a:rPr>
              <a:t>simulator/ripple_3d/output/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20252C"/>
                </a:solidFill>
                <a:latin typeface="Menlo"/>
              </a:rPr>
              <a:t>ripple_4x4.mp4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650992"/>
            <a:ext cx="448056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5E6770"/>
                </a:solidFill>
                <a:latin typeface="Aptos"/>
              </a:rPr>
              <a:t>Explanatory only: not calibrated rigid-body dynamics.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144768"/>
            <a:ext cx="99669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8C152D"/>
                </a:solidFill>
                <a:latin typeface="Aptos"/>
              </a:rPr>
              <a:t>Technical flow: model → command → pulse → motion → measurement.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438912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28600"/>
            <a:ext cx="10561320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20252C"/>
                </a:solidFill>
                <a:latin typeface="Aptos"/>
              </a:rPr>
              <a:t>Mechanical design: load path + center of mass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749808"/>
            <a:ext cx="102412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E6770"/>
                </a:solidFill>
                <a:latin typeface="Aptos"/>
              </a:rPr>
              <a:t>Mass properties, bearing support, and contact geometry determine how torque becomes visible wobble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611956" cy="54864"/>
          </a:xfrm>
          <a:prstGeom prst="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96588" y="1051560"/>
            <a:ext cx="1611956" cy="54864"/>
          </a:xfrm>
          <a:prstGeom prst="rect">
            <a:avLst/>
          </a:prstGeom>
          <a:solidFill>
            <a:srgbClr val="CC4070"/>
          </a:solidFill>
          <a:ln w="13970">
            <a:solidFill>
              <a:srgbClr val="CC4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0257" y="1051560"/>
            <a:ext cx="1611956" cy="54864"/>
          </a:xfrm>
          <a:prstGeom prst="rect">
            <a:avLst/>
          </a:prstGeom>
          <a:solidFill>
            <a:srgbClr val="764397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83925" y="1051560"/>
            <a:ext cx="1611956" cy="54864"/>
          </a:xfrm>
          <a:prstGeom prst="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7594" y="1051560"/>
            <a:ext cx="1611956" cy="54864"/>
          </a:xfrm>
          <a:prstGeom prst="rect">
            <a:avLst/>
          </a:prstGeom>
          <a:solidFill>
            <a:srgbClr val="007EA7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71262" y="1051560"/>
            <a:ext cx="1611956" cy="54864"/>
          </a:xfrm>
          <a:prstGeom prst="rect">
            <a:avLst/>
          </a:prstGeom>
          <a:solidFill>
            <a:srgbClr val="008460"/>
          </a:solidFill>
          <a:ln w="13970">
            <a:solidFill>
              <a:srgbClr val="008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64931" y="1051560"/>
            <a:ext cx="1611956" cy="54864"/>
          </a:xfrm>
          <a:prstGeom prst="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325880"/>
            <a:ext cx="5303520" cy="4407408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27632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15BA0"/>
                </a:solidFill>
                <a:latin typeface="Aptos"/>
              </a:rPr>
              <a:t>MECHANICAL LOAD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1993392"/>
            <a:ext cx="1325880" cy="621792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157984"/>
            <a:ext cx="110642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8C152D"/>
                </a:solidFill>
                <a:latin typeface="Aptos"/>
              </a:rPr>
              <a:t>MOTOR / SHAFT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2523744"/>
            <a:ext cx="1069848" cy="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>τmotor [N·m]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78608" y="1993392"/>
            <a:ext cx="1508760" cy="621792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2157984"/>
            <a:ext cx="1289304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E58400"/>
                </a:solidFill>
                <a:latin typeface="Aptos"/>
              </a:rPr>
              <a:t>BEARING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2523744"/>
            <a:ext cx="1252728" cy="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20252C"/>
                </a:solidFill>
                <a:latin typeface="Aptos"/>
              </a:rPr>
              <a:t>radial + axial load [N]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1993392"/>
            <a:ext cx="1170432" cy="621792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7643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157984"/>
            <a:ext cx="950976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764397"/>
                </a:solidFill>
                <a:latin typeface="Aptos"/>
              </a:rPr>
              <a:t>OFFSET MASS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2523744"/>
            <a:ext cx="914400" cy="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20252C"/>
                </a:solidFill>
                <a:latin typeface="Aptos"/>
              </a:rPr>
              <a:t>r [m]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04288" y="2304288"/>
            <a:ext cx="219456" cy="0"/>
          </a:xfrm>
          <a:prstGeom prst="line">
            <a:avLst/>
          </a:prstGeom>
          <a:ln w="1524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51376" y="2304288"/>
            <a:ext cx="256032" cy="0"/>
          </a:xfrm>
          <a:prstGeom prst="line">
            <a:avLst/>
          </a:prstGeom>
          <a:ln w="1524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993392" y="2761488"/>
            <a:ext cx="2121408" cy="2395728"/>
          </a:xfrm>
          <a:prstGeom prst="ellipse">
            <a:avLst/>
          </a:prstGeom>
          <a:solidFill>
            <a:srgbClr val="EEE2BE"/>
          </a:solidFill>
          <a:ln w="1778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59152" y="3246120"/>
            <a:ext cx="1389888" cy="292608"/>
          </a:xfrm>
          <a:prstGeom prst="round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95728" y="3584448"/>
            <a:ext cx="96012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919" b="1">
                <a:solidFill>
                  <a:srgbClr val="20252C"/>
                </a:solidFill>
                <a:latin typeface="Aptos"/>
              </a:rPr>
              <a:t>internal mechanism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370832"/>
            <a:ext cx="621792" cy="411480"/>
          </a:xfrm>
          <a:prstGeom prst="roundRect">
            <a:avLst/>
          </a:prstGeom>
          <a:solidFill>
            <a:srgbClr val="E58400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98064" y="4462272"/>
            <a:ext cx="512064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C"/>
                </a:solidFill>
                <a:latin typeface="Aptos"/>
              </a:rPr>
              <a:t>CoM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3703320"/>
            <a:ext cx="146304" cy="146304"/>
          </a:xfrm>
          <a:prstGeom prst="roundRect">
            <a:avLst/>
          </a:prstGeom>
          <a:solidFill>
            <a:srgbClr val="8C152D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584448"/>
            <a:ext cx="566928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5E6770"/>
                </a:solidFill>
                <a:latin typeface="Aptos"/>
              </a:rPr>
              <a:t>geom.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5E6770"/>
                </a:solidFill>
                <a:latin typeface="Aptos"/>
              </a:rPr>
              <a:t>center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044952" y="3803904"/>
            <a:ext cx="0" cy="539496"/>
          </a:xfrm>
          <a:prstGeom prst="line">
            <a:avLst/>
          </a:prstGeom>
          <a:ln w="15240">
            <a:solidFill>
              <a:srgbClr val="E58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310128" y="4096512"/>
            <a:ext cx="96012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E58400"/>
                </a:solidFill>
                <a:latin typeface="Aptos"/>
              </a:rPr>
              <a:t>dCoM = 25 [mm]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70632" y="4983480"/>
            <a:ext cx="566928" cy="201168"/>
          </a:xfrm>
          <a:prstGeom prst="roundRect">
            <a:avLst/>
          </a:prstGeom>
          <a:solidFill>
            <a:srgbClr val="315BA0"/>
          </a:solidFill>
          <a:ln w="13970">
            <a:solidFill>
              <a:srgbClr val="31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15184" y="5321808"/>
            <a:ext cx="86868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E6770"/>
                </a:solidFill>
                <a:latin typeface="Aptos"/>
              </a:rPr>
              <a:t>contact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3054096" y="4800600"/>
            <a:ext cx="0" cy="201168"/>
          </a:xfrm>
          <a:prstGeom prst="line">
            <a:avLst/>
          </a:prstGeom>
          <a:ln w="15240">
            <a:solidFill>
              <a:srgbClr val="315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" y="5532120"/>
            <a:ext cx="475488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252C"/>
                </a:solidFill>
                <a:latin typeface="Aptos"/>
              </a:rPr>
              <a:t>load returns through shell → contact → table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1325880"/>
            <a:ext cx="5212080" cy="205740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007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1627632"/>
            <a:ext cx="45720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07EA7"/>
                </a:solidFill>
                <a:latin typeface="Aptos"/>
              </a:rPr>
              <a:t>MODEL INPUTS / REPOSITORY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1993392"/>
            <a:ext cx="4617720" cy="10789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mass m = 500 [g] = 0.500 [kg]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semi-axes ≈ 35 × 35 × 40 [mm]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CoM = (0, 0, −25) [mm] from geometric center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contact radius = 35 [mm] · roughness = 0.1 [mm]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20252C"/>
                </a:solidFill>
                <a:latin typeface="Aptos"/>
              </a:rPr>
              <a:t>shell thickness = 2 [mm]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3611880"/>
            <a:ext cx="5212080" cy="1901952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E58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913632"/>
            <a:ext cx="260604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58400"/>
                </a:solidFill>
                <a:latin typeface="Aptos"/>
              </a:rPr>
              <a:t>TORQUE CALCULATION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279392"/>
            <a:ext cx="260604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20252C"/>
                </a:solidFill>
                <a:latin typeface="Aptos"/>
              </a:rPr>
              <a:t>τg = −m g ℓCoM sin(θ)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20252C"/>
                </a:solidFill>
                <a:latin typeface="Aptos"/>
              </a:rPr>
              <a:t>θrad = θdeg × π / 180</a:t>
            </a:r>
          </a:p>
          <a:p>
            <a:pPr algn="l">
              <a:spcAft>
                <a:spcPts val="200"/>
              </a:spcAft>
            </a:pPr>
            <a:r>
              <a:rPr sz="1550" b="1">
                <a:solidFill>
                  <a:srgbClr val="20252C"/>
                </a:solidFill>
                <a:latin typeface="Aptos"/>
              </a:rPr>
              <a:t>kg ≈ m g ℓCoM  [N·m/rad]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261104"/>
            <a:ext cx="2057400" cy="10789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0252C"/>
                </a:solidFill>
                <a:latin typeface="Aptos"/>
              </a:rPr>
              <a:t>Proxy: m g dCoM = 0.123 [N·m/rad].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20252C"/>
                </a:solidFill>
                <a:latin typeface="Aptos"/>
              </a:rPr>
              <a:t>Use dCoM for the model; ℓCoM is contact-to-CoM. Measure contact geometry before treating the proxy as physical torque.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5687568"/>
            <a:ext cx="5212080" cy="502920"/>
          </a:xfrm>
          <a:prstGeom prst="roundRect">
            <a:avLst/>
          </a:prstGeom>
          <a:solidFill>
            <a:srgbClr val="F2F4F1"/>
          </a:solidFill>
          <a:ln w="13970">
            <a:solidFill>
              <a:srgbClr val="8C15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5843016"/>
            <a:ext cx="4846320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8C152D"/>
                </a:solidFill>
                <a:latin typeface="Aptos"/>
              </a:rPr>
              <a:t>BEARING / LOAD CHECK NEXT: load [N] · support spacing [mm] · backlash [deg] · drag [N·m]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